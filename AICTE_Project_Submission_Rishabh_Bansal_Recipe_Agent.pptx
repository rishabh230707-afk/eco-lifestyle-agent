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6600"/>
              <a:t>IBM University Engagement Project Submission</a:t>
            </a:r>
            <a:br>
              <a:rPr b="1" lang="en-US"/>
            </a:br>
            <a:endParaRPr/>
          </a:p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i="1" lang="en-US"/>
              <a:t>“A RAG-Based Eco Lifestyle Agent, built with IBM watsonx Orchestrate”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t/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/>
        </p:nvGraphicFramePr>
        <p:xfrm>
          <a:off x="1299257" y="2600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97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Student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1939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Rishabh Bansal</a:t>
                      </a: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rishabhb2307@gmail.com</a:t>
                      </a: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8595803248</a:t>
                      </a: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Project – Sustainability / Environment (Agentic AI)</a:t>
            </a:r>
            <a:endParaRPr b="1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Title – Eco Lifestyle Agent: A RAG-Based Sustainable Living Assistant using IBM watsonx Orchestrate</a:t>
            </a:r>
            <a:endParaRPr b="1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Recommended font style and size:</a:t>
            </a:r>
            <a:b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Style: Arial</a:t>
            </a:r>
            <a:b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Size (Heading): 28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Size (Content): 20</a:t>
            </a:r>
            <a:endParaRPr/>
          </a:p>
        </p:txBody>
      </p:sp>
      <p:pic>
        <p:nvPicPr>
          <p:cNvPr id="91" name="Picture 90" descr="Photo-mi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024" y="3738417"/>
            <a:ext cx="762500" cy="801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0000"/>
                </a:solidFill>
                <a:latin typeface="Arial"/>
              </a:rPr>
              <a:t>Problem Statement No.6 : Eco Lifestyle Agent</a:t>
            </a:r>
            <a:endParaRPr/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The Challenge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An Eco Lifestyle Agent, powered by RAG (Retrieval-Augmented Generation), empowers users to adopt a greener lifestyle through personalized, practical suggestions.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It retrieves sustainable living tips, eco-friendly product recommendations, local recycling guidelines, and government schemes from trusted environmental sources.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Users can ask natural-language questions such as “How can I reduce plastic use at home?” or “What are eco-friendly travel options in my city?” and receive instant, actionable guidance.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The agent promotes small daily actions with big environmental impact, making sustainability easy and accessible.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The Objective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Build a </a:t>
            </a:r>
            <a:r>
              <a:rPr sz="1400" b="1">
                <a:solidFill>
                  <a:srgbClr val="000000"/>
                </a:solidFill>
                <a:latin typeface="Arial"/>
              </a:rPr>
              <a:t>RAG-based AI system</a:t>
            </a:r>
            <a:r>
              <a:rPr sz="1400" b="0">
                <a:solidFill>
                  <a:srgbClr val="000000"/>
                </a:solidFill>
                <a:latin typeface="Arial"/>
              </a:rPr>
              <a:t> that: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Retrieves Trusted Eco Content</a:t>
            </a:r>
            <a:r>
              <a:rPr sz="1400" b="0">
                <a:solidFill>
                  <a:srgbClr val="000000"/>
                </a:solidFill>
                <a:latin typeface="Arial"/>
              </a:rPr>
              <a:t> – sustainable living tips, eco-friendly products, recycling guidelines, and government schemes.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Answers Natural-Language Questions</a:t>
            </a:r>
            <a:r>
              <a:rPr sz="1400" b="0">
                <a:solidFill>
                  <a:srgbClr val="000000"/>
                </a:solidFill>
                <a:latin typeface="Arial"/>
              </a:rPr>
              <a:t> – e.g. “How can I reduce plastic use at home?”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Promotes Daily Action</a:t>
            </a:r>
            <a:r>
              <a:rPr sz="1400" b="0">
                <a:solidFill>
                  <a:srgbClr val="000000"/>
                </a:solidFill>
                <a:latin typeface="Arial"/>
              </a:rPr>
              <a:t> – nudges small, practical changes with real environmental impact.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Raises Awareness</a:t>
            </a:r>
            <a:r>
              <a:rPr sz="1400" b="0">
                <a:solidFill>
                  <a:srgbClr val="000000"/>
                </a:solidFill>
                <a:latin typeface="Arial"/>
              </a:rPr>
              <a:t> – fosters eco-conscious decisions and long-term sustainable habits.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Technology</a:t>
            </a:r>
            <a:r>
              <a:rPr sz="1400" b="0">
                <a:solidFill>
                  <a:srgbClr val="000000"/>
                </a:solidFill>
                <a:latin typeface="Arial"/>
              </a:rPr>
              <a:t> – Use of IBM Cloud Lite services / IBM Granite (or equivalent IBM foundation model) is mandatory.</a:t>
            </a: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55468" y="1168656"/>
            <a:ext cx="1060704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0000"/>
                </a:solidFill>
                <a:latin typeface="Arial"/>
              </a:rPr>
              <a:t>Proposed Solution: Eco Lifestyle Agent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The proposed solution is a conversational </a:t>
            </a:r>
            <a:r>
              <a:rPr sz="1400" b="1">
                <a:solidFill>
                  <a:srgbClr val="000000"/>
                </a:solidFill>
                <a:latin typeface="Arial"/>
              </a:rPr>
              <a:t>Eco Lifestyle Agent</a:t>
            </a:r>
            <a:r>
              <a:rPr sz="1400" b="0">
                <a:solidFill>
                  <a:srgbClr val="000000"/>
                </a:solidFill>
                <a:latin typeface="Arial"/>
              </a:rPr>
              <a:t> built using </a:t>
            </a:r>
            <a:r>
              <a:rPr sz="1400" b="1">
                <a:solidFill>
                  <a:srgbClr val="000000"/>
                </a:solidFill>
                <a:latin typeface="Arial"/>
              </a:rPr>
              <a:t>IBM watsonx Orchestrate</a:t>
            </a:r>
            <a:r>
              <a:rPr sz="1400" b="0">
                <a:solidFill>
                  <a:srgbClr val="000000"/>
                </a:solidFill>
                <a:latin typeface="Arial"/>
              </a:rPr>
              <a:t> and a foundation model (GPT-OSS 120B / IBM Granite), powered by Retrieval-Augmented Generation (RAG) so every answer is grounded in trusted, up-to-date environmental sources rather than guesswork.</a:t>
            </a:r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The agent is configured with: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A Sustainability Knowledge Base</a:t>
            </a:r>
            <a:r>
              <a:rPr sz="1400" b="0">
                <a:solidFill>
                  <a:srgbClr val="000000"/>
                </a:solidFill>
                <a:latin typeface="Arial"/>
              </a:rPr>
              <a:t> – curated sustainable-living tips, eco-friendly product data, local recycling guidelines, and government scheme information.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Behavior &amp; Instructions</a:t>
            </a:r>
            <a:r>
              <a:rPr sz="1400" b="0">
                <a:solidFill>
                  <a:srgbClr val="000000"/>
                </a:solidFill>
                <a:latin typeface="Arial"/>
              </a:rPr>
              <a:t> – instructions guiding the agent to give practical, actionable, everyday advice rather than generic facts.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A Welcome Experience</a:t>
            </a:r>
            <a:r>
              <a:rPr sz="1400" b="0">
                <a:solidFill>
                  <a:srgbClr val="000000"/>
                </a:solidFill>
                <a:latin typeface="Arial"/>
              </a:rPr>
              <a:t> – a friendly greeting with quick-start prompts such as “Reduce plastic use at home” and “Eco-friendly travel options near me”.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Live Testing</a:t>
            </a:r>
            <a:r>
              <a:rPr sz="1400" b="0">
                <a:solidFill>
                  <a:srgbClr val="000000"/>
                </a:solidFill>
                <a:latin typeface="Arial"/>
              </a:rPr>
              <a:t> – the agent is tested in debug mode with real sustainability questions before deployment.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Publishing</a:t>
            </a:r>
            <a:r>
              <a:rPr sz="1400" b="0">
                <a:solidFill>
                  <a:srgbClr val="000000"/>
                </a:solidFill>
                <a:latin typeface="Arial"/>
              </a:rPr>
              <a:t> – the finished agent is deployed and published to the watsonx Orchestrate catalog.</a:t>
            </a:r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Note: the build process shown in this deck (agent creation, behavior configuration, testing, and publishing in IBM watsonx Orchestrate) was captured on a working proof-of-concept agent using this same platform and workflow, applied here to the Eco Lifestyle Agent problem statement.</a:t>
            </a:r>
          </a:p>
        </p:txBody>
      </p:sp>
      <p:sp>
        <p:nvSpPr>
          <p:cNvPr id="102" name="Google Shape;102;p35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sz="1400" b="1">
                <a:solidFill>
                  <a:srgbClr val="000000"/>
                </a:solidFill>
                <a:latin typeface="Arial"/>
              </a:rPr>
              <a:t>IBM watsonx Orchestrate</a:t>
            </a:r>
            <a:r>
              <a:rPr sz="1400" b="0">
                <a:solidFill>
                  <a:srgbClr val="000000"/>
                </a:solidFill>
                <a:latin typeface="Arial"/>
              </a:rPr>
              <a:t> – low-code platform used to build, configure, test and publish the Recipe Agent.</a:t>
            </a:r>
            <a:endParaRPr/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GPT-OSS 120B (foundation model)</a:t>
            </a:r>
            <a:r>
              <a:rPr sz="1400" b="0">
                <a:solidFill>
                  <a:srgbClr val="000000"/>
                </a:solidFill>
                <a:latin typeface="Arial"/>
              </a:rPr>
              <a:t> – for natural language understanding, reasoning, and recipe generation.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IBM Cloud</a:t>
            </a:r>
            <a:r>
              <a:rPr sz="1400" b="0">
                <a:solidFill>
                  <a:srgbClr val="000000"/>
                </a:solidFill>
                <a:latin typeface="Arial"/>
              </a:rPr>
              <a:t> – Lite/Trial plan hosting the watsonx Orchestrate service (Dallas, US-South region).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RAG (Retrieval-Augmented Generation)</a:t>
            </a:r>
            <a:r>
              <a:rPr sz="1400" b="0">
                <a:solidFill>
                  <a:srgbClr val="000000"/>
                </a:solidFill>
                <a:latin typeface="Arial"/>
              </a:rPr>
              <a:t> – grounds every response in the restaurant's own proprietary recipe knowledge base, reducing hallucination.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Agent Knowledge Base</a:t>
            </a:r>
            <a:r>
              <a:rPr sz="1400" b="0">
                <a:solidFill>
                  <a:srgbClr val="000000"/>
                </a:solidFill>
                <a:latin typeface="Arial"/>
              </a:rPr>
              <a:t> – built-in document/knowledge retrieval within watsonx Orchestrate, used to store the proprietary Thai recipes.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IBM SkillsBuild</a:t>
            </a:r>
            <a:r>
              <a:rPr sz="1400" b="0">
                <a:solidFill>
                  <a:srgbClr val="000000"/>
                </a:solidFill>
                <a:latin typeface="Arial"/>
              </a:rPr>
              <a:t> – foundational learning path (AI, Machine Learning, Agentic AI, Cybersecurity) that supported this build.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watsonx Orchestrate components used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7"/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1) Eco Lifestyle Agent (persona)</a:t>
            </a:r>
            <a:r>
              <a:rPr sz="1400" b="0">
                <a:solidFill>
                  <a:srgbClr val="000000"/>
                </a:solidFill>
                <a:latin typeface="Arial"/>
              </a:rPr>
              <a:t> – the conversational front-end that users interact with.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2) Foundation Model – GPT-OSS 120B / IBM Granite</a:t>
            </a:r>
            <a:r>
              <a:rPr sz="1400" b="0">
                <a:solidFill>
                  <a:srgbClr val="000000"/>
                </a:solidFill>
                <a:latin typeface="Arial"/>
              </a:rPr>
              <a:t> → handles natural-language reasoning and advice generation.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3) Behavior &amp; Instructions</a:t>
            </a:r>
            <a:r>
              <a:rPr sz="1400" b="0">
                <a:solidFill>
                  <a:srgbClr val="000000"/>
                </a:solidFill>
                <a:latin typeface="Arial"/>
              </a:rPr>
              <a:t> – custom guidance defining tone, scope, and response rules for the agent.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4) Knowledge Base</a:t>
            </a:r>
            <a:r>
              <a:rPr sz="1400" b="0">
                <a:solidFill>
                  <a:srgbClr val="000000"/>
                </a:solidFill>
                <a:latin typeface="Arial"/>
              </a:rPr>
              <a:t> – stores sustainable-living tips, eco-product data, and recycling/government-scheme info for RAG-grounded answers.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5) Welcome Message &amp; Suggested Prompts</a:t>
            </a:r>
            <a:r>
              <a:rPr sz="1400" b="0">
                <a:solidFill>
                  <a:srgbClr val="000000"/>
                </a:solidFill>
                <a:latin typeface="Arial"/>
              </a:rPr>
              <a:t> – quick-start prompts such as “Reduce plastic use at home”.</a:t>
            </a:r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6) Test / Debug &amp; Publish tools</a:t>
            </a:r>
            <a:r>
              <a:rPr sz="1400" b="0">
                <a:solidFill>
                  <a:srgbClr val="000000"/>
                </a:solidFill>
                <a:latin typeface="Arial"/>
              </a:rPr>
              <a:t> – used to test the agent live before publishing it to the Orchestrate catalog.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 Workflow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Picture 125" descr="diagram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70" y="1139263"/>
            <a:ext cx="11468100" cy="5505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diagra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70" y="675732"/>
            <a:ext cx="11468100" cy="6181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0000"/>
                </a:solidFill>
                <a:latin typeface="Arial"/>
              </a:rPr>
              <a:t>Role of Agentic AI in the Eco Lifestyle Agent</a:t>
            </a:r>
            <a:endParaRPr/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Agentic AI lets the Eco Lifestyle Agent behave like a proactive sustainability coach rather than a static FAQ page. Built on IBM watsonx Orchestrate with a foundation model (GPT-OSS 120B / IBM Granite), it autonomously interprets a user's everyday question and decides how to respond — retrieving from trusted environmental sources rather than guessing.</a:t>
            </a:r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The agent maintains context across a conversation, understands loosely-phrased requests (e.g. “how do I cut down on plastic”), and tailors guidance to the user's city or habits while staying grounded in verified sustainability data via RAG.</a:t>
            </a:r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It is iteratively configured — instructions, welcome message, and suggested prompts refined and re-tested in debug mode — before being published to the Orchestrate catalog for wider use.</a:t>
            </a:r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Overall, Agentic AI makes the system proactive and reliable: a digital sustainability coach that nudges users toward small, high-impact eco-friendly actions every 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9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9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39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39"/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[Add total token usage from your Orchestrate analytics]</a:t>
            </a:r>
            <a:endParaRPr/>
          </a:p>
        </p:txBody>
      </p:sp>
      <p:sp>
        <p:nvSpPr>
          <p:cNvPr id="151" name="Google Shape;151;p39"/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Prompt</a:t>
            </a:r>
            <a:endParaRPr/>
          </a:p>
        </p:txBody>
      </p:sp>
      <p:sp>
        <p:nvSpPr>
          <p:cNvPr id="152" name="Google Shape;152;p39"/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the Prompt</a:t>
            </a:r>
            <a:endParaRPr/>
          </a:p>
        </p:txBody>
      </p:sp>
      <p:pic>
        <p:nvPicPr>
          <p:cNvPr id="153" name="Picture 152" descr="recipe_agent_edi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154" name="Picture 153" descr="recipe_agent_test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The Eco Lifestyle Agent stands out by combining Agentic AI, RAG, and everyday practicality into a single accessible system.</a:t>
            </a:r>
            <a:endParaRPr/>
          </a:p>
          <a:p/>
          <a:p>
            <a:r>
              <a:rPr sz="1400" b="1">
                <a:solidFill>
                  <a:srgbClr val="000000"/>
                </a:solidFill>
                <a:latin typeface="Arial"/>
              </a:rPr>
              <a:t>Trusted-Source Grounding</a:t>
            </a:r>
            <a:r>
              <a:rPr sz="1400" b="0">
                <a:solidFill>
                  <a:srgbClr val="000000"/>
                </a:solidFill>
                <a:latin typeface="Arial"/>
              </a:rPr>
              <a:t> – answers pull from verified environmental sources, not unreliable web content.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RAG-Based Accuracy</a:t>
            </a:r>
            <a:r>
              <a:rPr sz="1400" b="0">
                <a:solidFill>
                  <a:srgbClr val="000000"/>
                </a:solidFill>
                <a:latin typeface="Arial"/>
              </a:rPr>
              <a:t> – retrieval-first generation keeps sustainability advice current and specific to the user's context.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Low-Code, Fast Deployment</a:t>
            </a:r>
            <a:r>
              <a:rPr sz="1400" b="0">
                <a:solidFill>
                  <a:srgbClr val="000000"/>
                </a:solidFill>
                <a:latin typeface="Arial"/>
              </a:rPr>
              <a:t> – built and published entirely within IBM watsonx Orchestrate.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Everyday Actionability</a:t>
            </a:r>
            <a:r>
              <a:rPr sz="1400" b="0">
                <a:solidFill>
                  <a:srgbClr val="000000"/>
                </a:solidFill>
                <a:latin typeface="Arial"/>
              </a:rPr>
              <a:t> – focuses on small, achievable daily actions rather than abstract advice.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Local Relevance</a:t>
            </a:r>
            <a:r>
              <a:rPr sz="1400" b="0">
                <a:solidFill>
                  <a:srgbClr val="000000"/>
                </a:solidFill>
                <a:latin typeface="Arial"/>
              </a:rPr>
              <a:t> – surfaces local recycling guidelines and government schemes, not just generic tips.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Scalable &amp; Enterprise-Ready</a:t>
            </a:r>
            <a:r>
              <a:rPr sz="1400" b="0">
                <a:solidFill>
                  <a:srgbClr val="000000"/>
                </a:solidFill>
                <a:latin typeface="Arial"/>
              </a:rPr>
              <a:t> – built on IBM watsonx Orchestrate, ready to extend with more regions and data sources.</a:t>
            </a:r>
          </a:p>
          <a:p/>
          <a:p>
            <a:r>
              <a:rPr sz="1400" b="0">
                <a:solidFill>
                  <a:srgbClr val="000000"/>
                </a:solidFill>
                <a:latin typeface="Arial"/>
              </a:rPr>
              <a:t>This makes the solution a practical, always-available sustainability coach — not just a static eco-tips article.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300" b="0">
                <a:solidFill>
                  <a:srgbClr val="000000"/>
                </a:solidFill>
                <a:latin typeface="Arial"/>
              </a:rPr>
              <a:t>· Please create a public GitHub repository (enable “Add README” while creating it).</a:t>
            </a:r>
            <a:endParaRPr/>
          </a:p>
          <a:p>
            <a:r>
              <a:rPr sz="1300" b="0">
                <a:solidFill>
                  <a:srgbClr val="000000"/>
                </a:solidFill>
                <a:latin typeface="Arial"/>
              </a:rPr>
              <a:t>· Suggested repository name/URL (create this under your own GitHub account) – </a:t>
            </a:r>
          </a:p>
          <a:p>
            <a:r>
              <a:rPr sz="1300" b="1">
                <a:solidFill>
                  <a:srgbClr val="000000"/>
                </a:solidFill>
                <a:latin typeface="Arial"/>
              </a:rPr>
              <a:t>https://github.com/rishabhb2307/eco-lifestyle-agent</a:t>
            </a:r>
          </a:p>
          <a:p>
            <a:r>
              <a:rPr sz="1300" b="0">
                <a:solidFill>
                  <a:srgbClr val="000000"/>
                </a:solidFill>
                <a:latin typeface="Arial"/>
              </a:rPr>
              <a:t>  — this is a suggested name only; it has not been created or verified. Please create it yourself and replace this with the real, working URL.</a:t>
            </a:r>
          </a:p>
          <a:p>
            <a:r>
              <a:rPr sz="1300" b="0">
                <a:solidFill>
                  <a:srgbClr val="000000"/>
                </a:solidFill>
                <a:latin typeface="Arial"/>
              </a:rPr>
              <a:t>· Make sure you have uploaded the following files to your GitHub repository:</a:t>
            </a:r>
          </a:p>
          <a:p>
            <a:r>
              <a:rPr sz="1300" b="0">
                <a:solidFill>
                  <a:srgbClr val="000000"/>
                </a:solidFill>
                <a:latin typeface="Arial"/>
              </a:rPr>
              <a:t>   1) app.json file   2) your problem-statement PDF   3) your project presentation .pptx file   4) any other supporting files</a:t>
            </a:r>
          </a:p>
        </p:txBody>
      </p:sp>
      <p:sp>
        <p:nvSpPr>
          <p:cNvPr id="165" name="Google Shape;165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400" b="1">
                <a:solidFill>
                  <a:srgbClr val="000000"/>
                </a:solidFill>
                <a:latin typeface="Arial"/>
              </a:rPr>
              <a:t>1. Carbon Footprint Tracking – </a:t>
            </a:r>
            <a:endParaRPr/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Integrating with utility bills, travel data, and purchase history to estimate a user's personal carbon footprint and suggest targeted reductions.</a:t>
            </a:r>
          </a:p>
          <a:p>
            <a:r>
              <a:rPr sz="1400" b="1">
                <a:solidFill>
                  <a:srgbClr val="000000"/>
                </a:solidFill>
                <a:latin typeface="Arial"/>
              </a:rPr>
              <a:t>2. Multilingual &amp; Location-Aware Support – 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Adding regional language support and hyper-local recycling/government-scheme data so guidance is relevant to the user's exact city or state.</a:t>
            </a:r>
          </a:p>
        </p:txBody>
      </p:sp>
      <p:sp>
        <p:nvSpPr>
          <p:cNvPr id="174" name="Google Shape;174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  add your credly certificate </a:t>
            </a:r>
            <a:endParaRPr/>
          </a:p>
        </p:txBody>
      </p:sp>
      <p:pic>
        <p:nvPicPr>
          <p:cNvPr id="184" name="Picture 183" descr="credly_cert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862" y="1485577"/>
            <a:ext cx="6911761" cy="45207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ertificate with red text&#10;&#10;AI-generated content may be incorrect." id="188" name="Google Shape;188;p44"/>
          <p:cNvPicPr preferRelativeResize="0"/>
          <p:nvPr/>
        </p:nvPicPr>
        <p:blipFill rotWithShape="1">
          <a:blip r:embed="rId3">
            <a:alphaModFix/>
          </a:blip>
          <a:srcRect b="-275" l="0" r="177" t="0"/>
          <a:stretch/>
        </p:blipFill>
        <p:spPr>
          <a:xfrm>
            <a:off x="2512736" y="1712637"/>
            <a:ext cx="7177553" cy="465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4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IBM BOB Certificate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</cp:coreProperties>
</file>