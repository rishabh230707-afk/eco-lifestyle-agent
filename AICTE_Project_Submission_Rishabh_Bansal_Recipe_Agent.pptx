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b3W1nguJpyLvdkVeio7GQyZY/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063BE5B-8E01-4B91-9C5C-8479B17E1E5F}">
  <a:tblStyle styleId="{F063BE5B-8E01-4B91-9C5C-8479B17E1E5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3" name="Google Shape;93;p3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9" name="Google Shape;99;p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5" name="Google Shape;105;p3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" name="Google Shape;111;p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3" name="Google Shape;123;p3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2" name="Google Shape;142;p3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5" name="Google Shape;155;p4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p4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0" name="Google Shape;170;p4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3" name="Google Shape;193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4" name="Google Shape;14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2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" name="Google Shape;27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3" name="Google Shape;33;p2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" name="Google Shape;34;p2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2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2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1" name="Google Shape;51;p2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2" name="Google Shape;52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3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3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9" name="Google Shape;59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" name="Google Shape;65;p3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3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3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3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3.jpg"/><Relationship Id="rId6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3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b="1" lang="en-US" sz="6600"/>
              <a:t>IBM University Engagement Project Submission</a:t>
            </a:r>
            <a:br>
              <a:rPr b="1" lang="en-US"/>
            </a:br>
            <a:endParaRPr/>
          </a:p>
        </p:txBody>
      </p:sp>
      <p:sp>
        <p:nvSpPr>
          <p:cNvPr id="79" name="Google Shape;79;p33"/>
          <p:cNvSpPr txBox="1"/>
          <p:nvPr>
            <p:ph idx="1" type="body"/>
          </p:nvPr>
        </p:nvSpPr>
        <p:spPr>
          <a:xfrm>
            <a:off x="1014730" y="39036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45720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rPr b="1" i="1" lang="en-US"/>
              <a:t>“A RAG-Based Eco Lifestyle Agent, built with IBM watsonx Orchestrate”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5" name="Google Shape;8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r>
              <a:t/>
            </a:r>
            <a:endParaRPr b="1" i="0" sz="3200" u="none" cap="none" strike="noStrik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86" name="Google Shape;86;p2"/>
          <p:cNvGraphicFramePr/>
          <p:nvPr/>
        </p:nvGraphicFramePr>
        <p:xfrm>
          <a:off x="1299257" y="260031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{F063BE5B-8E01-4B91-9C5C-8479B17E1E5F}</a:tableStyleId>
              </a:tblPr>
              <a:tblGrid>
                <a:gridCol w="2064875"/>
                <a:gridCol w="2443375"/>
                <a:gridCol w="2443375"/>
                <a:gridCol w="2443375"/>
              </a:tblGrid>
              <a:tr h="9732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Student Name</a:t>
                      </a:r>
                      <a:endParaRPr sz="18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u="none" cap="none" strike="noStrike"/>
                        <a:t>Recent Passport Photo</a:t>
                      </a:r>
                      <a:endParaRPr sz="18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Email ID 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Mobile number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b="0" i="0" lang="en-US" sz="18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[WhatsApp] </a:t>
                      </a:r>
                      <a:endParaRPr b="0" i="0" sz="18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5B9BD5"/>
                    </a:solidFill>
                  </a:tcPr>
                </a:tc>
              </a:tr>
              <a:tr h="11939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Rishabh Bansal</a:t>
                      </a: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sz="18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rishabhb2307@gmail.com</a:t>
                      </a: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000000"/>
                          </a:solidFill>
                          <a:latin typeface="Arial"/>
                        </a:rPr>
                        <a:t>8595803248</a:t>
                      </a:r>
                    </a:p>
                  </a:txBody>
                  <a:tcPr marT="45725" marB="45725" marR="91450" marL="91450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0DEEF"/>
                    </a:solidFill>
                  </a:tcPr>
                </a:tc>
              </a:tr>
            </a:tbl>
          </a:graphicData>
        </a:graphic>
      </p:graphicFrame>
      <p:sp>
        <p:nvSpPr>
          <p:cNvPr id="88" name="Google Shape;88;p2"/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Domain of Project – Sustainability / Environment (Agentic AI)</a:t>
            </a:r>
            <a:endParaRPr b="1" i="0" sz="2400" u="none" cap="none" strike="noStrike">
              <a:solidFill>
                <a:srgbClr val="000000"/>
              </a:solidFill>
              <a:highlight>
                <a:srgbClr val="FFFF00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2"/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Project Title – Eco Lifestyle Agent: A RAG-Based Sustainable Living Assistant using IBM watsonx Orchestrate</a:t>
            </a:r>
            <a:endParaRPr b="1" i="0" sz="2400" u="none" cap="none" strike="noStrike">
              <a:solidFill>
                <a:srgbClr val="000000"/>
              </a:solidFill>
              <a:highlight>
                <a:srgbClr val="FFFF00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"/>
          <p:cNvSpPr txBox="1"/>
          <p:nvPr/>
        </p:nvSpPr>
        <p:spPr>
          <a:xfrm>
            <a:off x="1211005" y="5210667"/>
            <a:ext cx="6456743" cy="16312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Recommended font style and size:</a:t>
            </a:r>
            <a:br>
              <a:rPr b="0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Font Style: Arial</a:t>
            </a:r>
            <a:br>
              <a:rPr b="0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Font Size (Heading): 28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Font Size (Content): 20</a:t>
            </a:r>
            <a:endParaRPr/>
          </a:p>
        </p:txBody>
      </p:sp>
      <p:pic>
        <p:nvPicPr>
          <p:cNvPr id="91" name="Picture 90" descr="Photo-min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3024" y="3738417"/>
            <a:ext cx="762500" cy="8018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4"/>
          <p:cNvSpPr txBox="1"/>
          <p:nvPr/>
        </p:nvSpPr>
        <p:spPr>
          <a:xfrm>
            <a:off x="576072" y="1234440"/>
            <a:ext cx="10607040" cy="50475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0000"/>
                </a:solidFill>
                <a:latin typeface="Arial"/>
              </a:rPr>
              <a:t>Problem Statement No.6 : Eco Lifestyle Agent</a:t>
            </a:r>
            <a:endParaRPr/>
          </a:p>
          <a:p/>
          <a:p>
            <a:r>
              <a:rPr sz="1400" b="1">
                <a:solidFill>
                  <a:srgbClr val="000000"/>
                </a:solidFill>
                <a:latin typeface="Arial"/>
              </a:rPr>
              <a:t>The Challenge</a:t>
            </a:r>
          </a:p>
          <a:p>
            <a:r>
              <a:rPr sz="1400" b="0">
                <a:solidFill>
                  <a:srgbClr val="000000"/>
                </a:solidFill>
                <a:latin typeface="Arial"/>
              </a:rPr>
              <a:t>An Eco Lifestyle Agent, powered by RAG (Retrieval-Augmented Generation), empowers users to adopt a greener lifestyle through personalized, practical suggestions.</a:t>
            </a:r>
          </a:p>
          <a:p>
            <a:r>
              <a:rPr sz="1400" b="0">
                <a:solidFill>
                  <a:srgbClr val="000000"/>
                </a:solidFill>
                <a:latin typeface="Arial"/>
              </a:rPr>
              <a:t>It retrieves sustainable living tips, eco-friendly product recommendations, local recycling guidelines, and government schemes from trusted environmental sources.</a:t>
            </a:r>
          </a:p>
          <a:p>
            <a:r>
              <a:rPr sz="1400" b="0">
                <a:solidFill>
                  <a:srgbClr val="000000"/>
                </a:solidFill>
                <a:latin typeface="Arial"/>
              </a:rPr>
              <a:t>Users can ask natural-language questions such as “How can I reduce plastic use at home?” or “What are eco-friendly travel options in my city?” and receive instant, actionable guidance.</a:t>
            </a:r>
          </a:p>
          <a:p>
            <a:r>
              <a:rPr sz="1400" b="0">
                <a:solidFill>
                  <a:srgbClr val="000000"/>
                </a:solidFill>
                <a:latin typeface="Arial"/>
              </a:rPr>
              <a:t>The agent promotes small daily actions with big environmental impact, making sustainability easy and accessible.</a:t>
            </a:r>
          </a:p>
          <a:p/>
          <a:p>
            <a:r>
              <a:rPr sz="1400" b="1">
                <a:solidFill>
                  <a:srgbClr val="000000"/>
                </a:solidFill>
                <a:latin typeface="Arial"/>
              </a:rPr>
              <a:t>The Objective</a:t>
            </a:r>
          </a:p>
          <a:p>
            <a:r>
              <a:rPr sz="1400" b="0">
                <a:solidFill>
                  <a:srgbClr val="000000"/>
                </a:solidFill>
                <a:latin typeface="Arial"/>
              </a:rPr>
              <a:t>Build a </a:t>
            </a:r>
            <a:r>
              <a:rPr sz="1400" b="1">
                <a:solidFill>
                  <a:srgbClr val="000000"/>
                </a:solidFill>
                <a:latin typeface="Arial"/>
              </a:rPr>
              <a:t>RAG-based AI system</a:t>
            </a:r>
            <a:r>
              <a:rPr sz="1400" b="0">
                <a:solidFill>
                  <a:srgbClr val="000000"/>
                </a:solidFill>
                <a:latin typeface="Arial"/>
              </a:rPr>
              <a:t> that: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Retrieves Trusted Eco Content</a:t>
            </a:r>
            <a:r>
              <a:rPr sz="1400" b="0">
                <a:solidFill>
                  <a:srgbClr val="000000"/>
                </a:solidFill>
                <a:latin typeface="Arial"/>
              </a:rPr>
              <a:t> – sustainable living tips, eco-friendly products, recycling guidelines, and government schemes.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Answers Natural-Language Questions</a:t>
            </a:r>
            <a:r>
              <a:rPr sz="1400" b="0">
                <a:solidFill>
                  <a:srgbClr val="000000"/>
                </a:solidFill>
                <a:latin typeface="Arial"/>
              </a:rPr>
              <a:t> – e.g. “How can I reduce plastic use at home?”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Promotes Daily Action</a:t>
            </a:r>
            <a:r>
              <a:rPr sz="1400" b="0">
                <a:solidFill>
                  <a:srgbClr val="000000"/>
                </a:solidFill>
                <a:latin typeface="Arial"/>
              </a:rPr>
              <a:t> – nudges small, practical changes with real environmental impact.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Raises Awareness</a:t>
            </a:r>
            <a:r>
              <a:rPr sz="1400" b="0">
                <a:solidFill>
                  <a:srgbClr val="000000"/>
                </a:solidFill>
                <a:latin typeface="Arial"/>
              </a:rPr>
              <a:t> – fosters eco-conscious decisions and long-term sustainable habits.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Technology</a:t>
            </a:r>
            <a:r>
              <a:rPr sz="1400" b="0">
                <a:solidFill>
                  <a:srgbClr val="000000"/>
                </a:solidFill>
                <a:latin typeface="Arial"/>
              </a:rPr>
              <a:t> – Use of IBM Cloud Lite services / IBM Granite (or equivalent IBM foundation model) is mandatory.</a:t>
            </a:r>
          </a:p>
        </p:txBody>
      </p:sp>
      <p:sp>
        <p:nvSpPr>
          <p:cNvPr id="96" name="Google Shape;96;p34"/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Problem Statement -</a:t>
            </a:r>
            <a:endParaRPr b="1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5"/>
          <p:cNvSpPr txBox="1"/>
          <p:nvPr/>
        </p:nvSpPr>
        <p:spPr>
          <a:xfrm>
            <a:off x="455468" y="1168656"/>
            <a:ext cx="10607040" cy="526297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0000"/>
                </a:solidFill>
                <a:latin typeface="Arial"/>
              </a:rPr>
              <a:t>Proposed Solution: Eco Lifestyle Agent</a:t>
            </a:r>
            <a:endParaRPr b="1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/>
          <a:p>
            <a:r>
              <a:rPr sz="1400" b="0">
                <a:solidFill>
                  <a:srgbClr val="000000"/>
                </a:solidFill>
                <a:latin typeface="Arial"/>
              </a:rPr>
              <a:t>The proposed solution is a conversational </a:t>
            </a:r>
            <a:r>
              <a:rPr sz="1400" b="1">
                <a:solidFill>
                  <a:srgbClr val="000000"/>
                </a:solidFill>
                <a:latin typeface="Arial"/>
              </a:rPr>
              <a:t>Eco Lifestyle Agent</a:t>
            </a:r>
            <a:r>
              <a:rPr sz="1400" b="0">
                <a:solidFill>
                  <a:srgbClr val="000000"/>
                </a:solidFill>
                <a:latin typeface="Arial"/>
              </a:rPr>
              <a:t> built using </a:t>
            </a:r>
            <a:r>
              <a:rPr sz="1400" b="1">
                <a:solidFill>
                  <a:srgbClr val="000000"/>
                </a:solidFill>
                <a:latin typeface="Arial"/>
              </a:rPr>
              <a:t>IBM watsonx Orchestrate</a:t>
            </a:r>
            <a:r>
              <a:rPr sz="1400" b="0">
                <a:solidFill>
                  <a:srgbClr val="000000"/>
                </a:solidFill>
                <a:latin typeface="Arial"/>
              </a:rPr>
              <a:t> and a foundation model (GPT-OSS 120B / IBM Granite), powered by Retrieval-Augmented Generation (RAG) so every answer is grounded in trusted, up-to-date environmental sources rather than guesswork.</a:t>
            </a:r>
          </a:p>
          <a:p/>
          <a:p>
            <a:r>
              <a:rPr sz="1400" b="0">
                <a:solidFill>
                  <a:srgbClr val="000000"/>
                </a:solidFill>
                <a:latin typeface="Arial"/>
              </a:rPr>
              <a:t>The agent is configured with: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A Sustainability Knowledge Base</a:t>
            </a:r>
            <a:r>
              <a:rPr sz="1400" b="0">
                <a:solidFill>
                  <a:srgbClr val="000000"/>
                </a:solidFill>
                <a:latin typeface="Arial"/>
              </a:rPr>
              <a:t> – curated sustainable-living tips, eco-friendly product data, local recycling guidelines, and government scheme information.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Behavior &amp; Instructions</a:t>
            </a:r>
            <a:r>
              <a:rPr sz="1400" b="0">
                <a:solidFill>
                  <a:srgbClr val="000000"/>
                </a:solidFill>
                <a:latin typeface="Arial"/>
              </a:rPr>
              <a:t> – instructions guiding the agent to give practical, actionable, everyday advice rather than generic facts.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A Welcome Experience</a:t>
            </a:r>
            <a:r>
              <a:rPr sz="1400" b="0">
                <a:solidFill>
                  <a:srgbClr val="000000"/>
                </a:solidFill>
                <a:latin typeface="Arial"/>
              </a:rPr>
              <a:t> – a friendly greeting with quick-start prompts such as “Reduce plastic use at home” and “Eco-friendly travel options near me”.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Live Testing</a:t>
            </a:r>
            <a:r>
              <a:rPr sz="1400" b="0">
                <a:solidFill>
                  <a:srgbClr val="000000"/>
                </a:solidFill>
                <a:latin typeface="Arial"/>
              </a:rPr>
              <a:t> – the agent is tested in debug mode with real sustainability questions before deployment.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Publishing</a:t>
            </a:r>
            <a:r>
              <a:rPr sz="1400" b="0">
                <a:solidFill>
                  <a:srgbClr val="000000"/>
                </a:solidFill>
                <a:latin typeface="Arial"/>
              </a:rPr>
              <a:t> – the finished agent is deployed and published to the watsonx Orchestrate catalog.</a:t>
            </a:r>
          </a:p>
          <a:p/>
          <a:p>
            <a:r>
              <a:rPr sz="1400" b="0">
                <a:solidFill>
                  <a:srgbClr val="000000"/>
                </a:solidFill>
                <a:latin typeface="Arial"/>
              </a:rPr>
              <a:t>Note: the build process shown in this deck (agent creation, behavior configuration, testing, and publishing in IBM watsonx Orchestrate) was captured on a working proof-of-concept agent using this same platform and workflow, applied here to the Eco Lifestyle Agent problem statement.</a:t>
            </a:r>
          </a:p>
        </p:txBody>
      </p:sp>
      <p:sp>
        <p:nvSpPr>
          <p:cNvPr id="102" name="Google Shape;102;p35"/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Proposed Solution -</a:t>
            </a:r>
            <a:endParaRPr b="1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6"/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Technology Used</a:t>
            </a:r>
            <a:endParaRPr b="1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36"/>
          <p:cNvSpPr txBox="1"/>
          <p:nvPr/>
        </p:nvSpPr>
        <p:spPr>
          <a:xfrm>
            <a:off x="777240" y="1207008"/>
            <a:ext cx="10515600" cy="55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sz="1400" b="1">
                <a:solidFill>
                  <a:srgbClr val="000000"/>
                </a:solidFill>
                <a:latin typeface="Arial"/>
              </a:rPr>
              <a:t>IBM watsonx Orchestrate</a:t>
            </a:r>
            <a:r>
              <a:rPr sz="1400" b="0">
                <a:solidFill>
                  <a:srgbClr val="000000"/>
                </a:solidFill>
                <a:latin typeface="Arial"/>
              </a:rPr>
              <a:t> – low-code platform used to build, configure, test and publish the Recipe Agent.</a:t>
            </a:r>
            <a:endParaRPr/>
          </a:p>
          <a:p/>
          <a:p>
            <a:r>
              <a:rPr sz="1400" b="1">
                <a:solidFill>
                  <a:srgbClr val="000000"/>
                </a:solidFill>
                <a:latin typeface="Arial"/>
              </a:rPr>
              <a:t>GPT-OSS 120B (foundation model)</a:t>
            </a:r>
            <a:r>
              <a:rPr sz="1400" b="0">
                <a:solidFill>
                  <a:srgbClr val="000000"/>
                </a:solidFill>
                <a:latin typeface="Arial"/>
              </a:rPr>
              <a:t> – for natural language understanding, reasoning, and recipe generation.</a:t>
            </a:r>
          </a:p>
          <a:p/>
          <a:p>
            <a:r>
              <a:rPr sz="1400" b="1">
                <a:solidFill>
                  <a:srgbClr val="000000"/>
                </a:solidFill>
                <a:latin typeface="Arial"/>
              </a:rPr>
              <a:t>IBM Cloud</a:t>
            </a:r>
            <a:r>
              <a:rPr sz="1400" b="0">
                <a:solidFill>
                  <a:srgbClr val="000000"/>
                </a:solidFill>
                <a:latin typeface="Arial"/>
              </a:rPr>
              <a:t> – Lite/Trial plan hosting the watsonx Orchestrate service (Dallas, US-South region).</a:t>
            </a:r>
          </a:p>
          <a:p/>
          <a:p>
            <a:r>
              <a:rPr sz="1400" b="1">
                <a:solidFill>
                  <a:srgbClr val="000000"/>
                </a:solidFill>
                <a:latin typeface="Arial"/>
              </a:rPr>
              <a:t>RAG (Retrieval-Augmented Generation)</a:t>
            </a:r>
            <a:r>
              <a:rPr sz="1400" b="0">
                <a:solidFill>
                  <a:srgbClr val="000000"/>
                </a:solidFill>
                <a:latin typeface="Arial"/>
              </a:rPr>
              <a:t> – grounds every response in the restaurant's own proprietary recipe knowledge base, reducing hallucination.</a:t>
            </a:r>
          </a:p>
          <a:p/>
          <a:p>
            <a:r>
              <a:rPr sz="1400" b="1">
                <a:solidFill>
                  <a:srgbClr val="000000"/>
                </a:solidFill>
                <a:latin typeface="Arial"/>
              </a:rPr>
              <a:t>Agent Knowledge Base</a:t>
            </a:r>
            <a:r>
              <a:rPr sz="1400" b="0">
                <a:solidFill>
                  <a:srgbClr val="000000"/>
                </a:solidFill>
                <a:latin typeface="Arial"/>
              </a:rPr>
              <a:t> – built-in document/knowledge retrieval within watsonx Orchestrate, used to store the proprietary Thai recipes.</a:t>
            </a:r>
          </a:p>
          <a:p/>
          <a:p>
            <a:r>
              <a:rPr sz="1400" b="1">
                <a:solidFill>
                  <a:srgbClr val="000000"/>
                </a:solidFill>
                <a:latin typeface="Arial"/>
              </a:rPr>
              <a:t>IBM SkillsBuild</a:t>
            </a:r>
            <a:r>
              <a:rPr sz="1400" b="0">
                <a:solidFill>
                  <a:srgbClr val="000000"/>
                </a:solidFill>
                <a:latin typeface="Arial"/>
              </a:rPr>
              <a:t> – foundational learning path (AI, Machine Learning, Agentic AI, Cybersecurity) that supported this build.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7"/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watsonx Orchestrate components used -</a:t>
            </a:r>
            <a:endParaRPr b="1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7"/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5" name="Google Shape;115;p37"/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6" name="Google Shape;116;p37"/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7" name="Google Shape;117;p37"/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8" name="Google Shape;118;p37"/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9" name="Google Shape;119;p37"/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0" name="Google Shape;120;p37"/>
          <p:cNvSpPr txBox="1"/>
          <p:nvPr/>
        </p:nvSpPr>
        <p:spPr>
          <a:xfrm>
            <a:off x="474822" y="863187"/>
            <a:ext cx="8823960" cy="526297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1) Eco Lifestyle Agent (persona)</a:t>
            </a:r>
            <a:r>
              <a:rPr sz="1400" b="0">
                <a:solidFill>
                  <a:srgbClr val="000000"/>
                </a:solidFill>
                <a:latin typeface="Arial"/>
              </a:rPr>
              <a:t> – the conversational front-end that users interact with.</a:t>
            </a:r>
          </a:p>
          <a:p/>
          <a:p>
            <a:r>
              <a:rPr sz="1400" b="1">
                <a:solidFill>
                  <a:srgbClr val="000000"/>
                </a:solidFill>
                <a:latin typeface="Arial"/>
              </a:rPr>
              <a:t>2) Foundation Model – GPT-OSS 120B / IBM Granite</a:t>
            </a:r>
            <a:r>
              <a:rPr sz="1400" b="0">
                <a:solidFill>
                  <a:srgbClr val="000000"/>
                </a:solidFill>
                <a:latin typeface="Arial"/>
              </a:rPr>
              <a:t> → handles natural-language reasoning and advice generation.</a:t>
            </a:r>
          </a:p>
          <a:p/>
          <a:p>
            <a:r>
              <a:rPr sz="1400" b="1">
                <a:solidFill>
                  <a:srgbClr val="000000"/>
                </a:solidFill>
                <a:latin typeface="Arial"/>
              </a:rPr>
              <a:t>3) Behavior &amp; Instructions</a:t>
            </a:r>
            <a:r>
              <a:rPr sz="1400" b="0">
                <a:solidFill>
                  <a:srgbClr val="000000"/>
                </a:solidFill>
                <a:latin typeface="Arial"/>
              </a:rPr>
              <a:t> – custom guidance defining tone, scope, and response rules for the agent.</a:t>
            </a:r>
          </a:p>
          <a:p/>
          <a:p>
            <a:r>
              <a:rPr sz="1400" b="1">
                <a:solidFill>
                  <a:srgbClr val="000000"/>
                </a:solidFill>
                <a:latin typeface="Arial"/>
              </a:rPr>
              <a:t>4) Knowledge Base</a:t>
            </a:r>
            <a:r>
              <a:rPr sz="1400" b="0">
                <a:solidFill>
                  <a:srgbClr val="000000"/>
                </a:solidFill>
                <a:latin typeface="Arial"/>
              </a:rPr>
              <a:t> – stores sustainable-living tips, eco-product data, and recycling/government-scheme info for RAG-grounded answers.</a:t>
            </a:r>
          </a:p>
          <a:p/>
          <a:p>
            <a:r>
              <a:rPr sz="1400" b="1">
                <a:solidFill>
                  <a:srgbClr val="000000"/>
                </a:solidFill>
                <a:latin typeface="Arial"/>
              </a:rPr>
              <a:t>5) Welcome Message &amp; Suggested Prompts</a:t>
            </a:r>
            <a:r>
              <a:rPr sz="1400" b="0">
                <a:solidFill>
                  <a:srgbClr val="000000"/>
                </a:solidFill>
                <a:latin typeface="Arial"/>
              </a:rPr>
              <a:t> – quick-start prompts such as “Reduce plastic use at home”.</a:t>
            </a:r>
          </a:p>
          <a:p/>
          <a:p>
            <a:r>
              <a:rPr sz="1400" b="1">
                <a:solidFill>
                  <a:srgbClr val="000000"/>
                </a:solidFill>
                <a:latin typeface="Arial"/>
              </a:rPr>
              <a:t>6) Test / Debug &amp; Publish tools</a:t>
            </a:r>
            <a:r>
              <a:rPr sz="1400" b="0">
                <a:solidFill>
                  <a:srgbClr val="000000"/>
                </a:solidFill>
                <a:latin typeface="Arial"/>
              </a:rPr>
              <a:t> – used to test the agent live before publishing it to the Orchestrate catalog.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8"/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Implementation Workflow -</a:t>
            </a:r>
            <a:endParaRPr b="1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" name="Picture 125" descr="diagram_work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570" y="1139263"/>
            <a:ext cx="11468100" cy="55054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Picture 131" descr="diagram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570" y="675732"/>
            <a:ext cx="11468100" cy="61817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9"/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Role of Agentic AI in the solution </a:t>
            </a:r>
            <a:endParaRPr b="1" i="0" sz="3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9"/>
          <p:cNvSpPr txBox="1"/>
          <p:nvPr/>
        </p:nvSpPr>
        <p:spPr>
          <a:xfrm>
            <a:off x="621792" y="1167493"/>
            <a:ext cx="7406640" cy="31085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>
                <a:solidFill>
                  <a:srgbClr val="000000"/>
                </a:solidFill>
                <a:latin typeface="Arial"/>
              </a:rPr>
              <a:t>Role of Agentic AI in the Eco Lifestyle Agent</a:t>
            </a:r>
            <a:endParaRPr/>
          </a:p>
          <a:p/>
          <a:p>
            <a:r>
              <a:rPr sz="1400" b="0">
                <a:solidFill>
                  <a:srgbClr val="000000"/>
                </a:solidFill>
                <a:latin typeface="Arial"/>
              </a:rPr>
              <a:t>Agentic AI lets the Eco Lifestyle Agent behave like a proactive sustainability coach rather than a static FAQ page. Built on IBM watsonx Orchestrate with a foundation model (GPT-OSS 120B / IBM Granite), it autonomously interprets a user's everyday question and decides how to respond — retrieving from trusted environmental sources rather than guessing.</a:t>
            </a:r>
          </a:p>
          <a:p/>
          <a:p>
            <a:r>
              <a:rPr sz="1400" b="0">
                <a:solidFill>
                  <a:srgbClr val="000000"/>
                </a:solidFill>
                <a:latin typeface="Arial"/>
              </a:rPr>
              <a:t>The agent maintains context across a conversation, understands loosely-phrased requests (e.g. “how do I cut down on plastic”), and tailors guidance to the user's city or habits while staying grounded in verified sustainability data via RAG.</a:t>
            </a:r>
          </a:p>
          <a:p/>
          <a:p>
            <a:r>
              <a:rPr sz="1400" b="0">
                <a:solidFill>
                  <a:srgbClr val="000000"/>
                </a:solidFill>
                <a:latin typeface="Arial"/>
              </a:rPr>
              <a:t>It is iteratively configured — instructions, welcome message, and suggested prompts refined and re-tested in debug mode — before being published to the Orchestrate catalog for wider use.</a:t>
            </a:r>
          </a:p>
          <a:p/>
          <a:p>
            <a:r>
              <a:rPr sz="1400" b="0">
                <a:solidFill>
                  <a:srgbClr val="000000"/>
                </a:solidFill>
                <a:latin typeface="Arial"/>
              </a:rPr>
              <a:t>Overall, Agentic AI makes the system proactive and reliable: a digital sustainability coach that nudges users toward small, high-impact eco-friendly actions every 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9"/>
          <p:cNvSpPr/>
          <p:nvPr/>
        </p:nvSpPr>
        <p:spPr>
          <a:xfrm>
            <a:off x="793192" y="3415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 Usage </a:t>
            </a:r>
            <a:endParaRPr b="1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39"/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b="0" i="0" lang="en-US" sz="185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6" name="Google Shape;146;p39"/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b="0" i="0" lang="en-US" sz="185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7" name="Google Shape;147;p39"/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b="0" i="0" lang="en-US" sz="185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8" name="Google Shape;148;p39"/>
          <p:cNvSpPr txBox="1"/>
          <p:nvPr/>
        </p:nvSpPr>
        <p:spPr>
          <a:xfrm>
            <a:off x="897392" y="1042133"/>
            <a:ext cx="4371171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[Add total token usage from your Orchestrate analytics]</a:t>
            </a:r>
            <a:endParaRPr/>
          </a:p>
        </p:txBody>
      </p:sp>
      <p:sp>
        <p:nvSpPr>
          <p:cNvPr id="151" name="Google Shape;151;p39"/>
          <p:cNvSpPr txBox="1"/>
          <p:nvPr/>
        </p:nvSpPr>
        <p:spPr>
          <a:xfrm>
            <a:off x="1278639" y="1718067"/>
            <a:ext cx="2743199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Before Prompt</a:t>
            </a:r>
            <a:endParaRPr/>
          </a:p>
        </p:txBody>
      </p:sp>
      <p:sp>
        <p:nvSpPr>
          <p:cNvPr id="152" name="Google Shape;152;p39"/>
          <p:cNvSpPr txBox="1"/>
          <p:nvPr/>
        </p:nvSpPr>
        <p:spPr>
          <a:xfrm>
            <a:off x="7106828" y="1722919"/>
            <a:ext cx="2743199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After the Prompt</a:t>
            </a:r>
            <a:endParaRPr/>
          </a:p>
        </p:txBody>
      </p:sp>
      <p:pic>
        <p:nvPicPr>
          <p:cNvPr id="153" name="Picture 152" descr="recipe_agent_edi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40" y="2453592"/>
            <a:ext cx="5095875" cy="2857500"/>
          </a:xfrm>
          <a:prstGeom prst="rect">
            <a:avLst/>
          </a:prstGeom>
        </p:spPr>
      </p:pic>
      <p:pic>
        <p:nvPicPr>
          <p:cNvPr id="154" name="Picture 153" descr="recipe_agent_test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9601" y="2451181"/>
            <a:ext cx="5724525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40"/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Novelty and Uniqueness</a:t>
            </a:r>
            <a:endParaRPr b="1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40"/>
          <p:cNvSpPr txBox="1"/>
          <p:nvPr/>
        </p:nvSpPr>
        <p:spPr>
          <a:xfrm>
            <a:off x="777240" y="1207008"/>
            <a:ext cx="11301984" cy="52937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The Eco Lifestyle Agent stands out by combining Agentic AI, RAG, and everyday practicality into a single accessible system.</a:t>
            </a:r>
            <a:endParaRPr/>
          </a:p>
          <a:p/>
          <a:p>
            <a:r>
              <a:rPr sz="1400" b="1">
                <a:solidFill>
                  <a:srgbClr val="000000"/>
                </a:solidFill>
                <a:latin typeface="Arial"/>
              </a:rPr>
              <a:t>Trusted-Source Grounding</a:t>
            </a:r>
            <a:r>
              <a:rPr sz="1400" b="0">
                <a:solidFill>
                  <a:srgbClr val="000000"/>
                </a:solidFill>
                <a:latin typeface="Arial"/>
              </a:rPr>
              <a:t> – answers pull from verified environmental sources, not unreliable web content.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RAG-Based Accuracy</a:t>
            </a:r>
            <a:r>
              <a:rPr sz="1400" b="0">
                <a:solidFill>
                  <a:srgbClr val="000000"/>
                </a:solidFill>
                <a:latin typeface="Arial"/>
              </a:rPr>
              <a:t> – retrieval-first generation keeps sustainability advice current and specific to the user's context.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Low-Code, Fast Deployment</a:t>
            </a:r>
            <a:r>
              <a:rPr sz="1400" b="0">
                <a:solidFill>
                  <a:srgbClr val="000000"/>
                </a:solidFill>
                <a:latin typeface="Arial"/>
              </a:rPr>
              <a:t> – built and published entirely within IBM watsonx Orchestrate.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Everyday Actionability</a:t>
            </a:r>
            <a:r>
              <a:rPr sz="1400" b="0">
                <a:solidFill>
                  <a:srgbClr val="000000"/>
                </a:solidFill>
                <a:latin typeface="Arial"/>
              </a:rPr>
              <a:t> – focuses on small, achievable daily actions rather than abstract advice.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Local Relevance</a:t>
            </a:r>
            <a:r>
              <a:rPr sz="1400" b="0">
                <a:solidFill>
                  <a:srgbClr val="000000"/>
                </a:solidFill>
                <a:latin typeface="Arial"/>
              </a:rPr>
              <a:t> – surfaces local recycling guidelines and government schemes, not just generic tips.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Scalable &amp; Enterprise-Ready</a:t>
            </a:r>
            <a:r>
              <a:rPr sz="1400" b="0">
                <a:solidFill>
                  <a:srgbClr val="000000"/>
                </a:solidFill>
                <a:latin typeface="Arial"/>
              </a:rPr>
              <a:t> – built on IBM watsonx Orchestrate, ready to extend with more regions and data sources.</a:t>
            </a:r>
          </a:p>
          <a:p/>
          <a:p>
            <a:r>
              <a:rPr sz="1400" b="0">
                <a:solidFill>
                  <a:srgbClr val="000000"/>
                </a:solidFill>
                <a:latin typeface="Arial"/>
              </a:rPr>
              <a:t>This makes the solution a practical, always-available sustainability coach — not just a static eco-tips article.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41"/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 Hub Link</a:t>
            </a:r>
            <a:endParaRPr b="1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41"/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sz="1300" b="0">
                <a:solidFill>
                  <a:srgbClr val="000000"/>
                </a:solidFill>
                <a:latin typeface="Arial"/>
              </a:rPr>
              <a:t>· Public GitHub repository created (with README) – </a:t>
            </a:r>
            <a:endParaRPr/>
          </a:p>
          <a:p>
            <a:r>
              <a:rPr sz="1300" b="1">
                <a:solidFill>
                  <a:srgbClr val="000000"/>
                </a:solidFill>
                <a:latin typeface="Arial"/>
              </a:rPr>
              <a:t>https://github.com/rishabh230707-afk/eco-lifestyle-agent</a:t>
            </a:r>
          </a:p>
          <a:p/>
          <a:p>
            <a:r>
              <a:rPr sz="1300" b="0">
                <a:solidFill>
                  <a:srgbClr val="000000"/>
                </a:solidFill>
                <a:latin typeface="Arial"/>
              </a:rPr>
              <a:t>· Files uploaded: README.md, app.json, problem_statement.md, and this project presentation (.pptx).</a:t>
            </a:r>
          </a:p>
          <a:p>
            <a:r>
              <a:rPr sz="1300" b="0">
                <a:solidFill>
                  <a:srgbClr val="000000"/>
                </a:solidFill>
                <a:latin typeface="Arial"/>
              </a:rPr>
              <a:t>· Note: app.json currently contains placeholder values — replace with your real exported agent configuration from watsonx Orchestrate before final submission.</a:t>
            </a:r>
          </a:p>
        </p:txBody>
      </p:sp>
      <p:sp>
        <p:nvSpPr>
          <p:cNvPr id="165" name="Google Shape;165;p41"/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b="0" i="0" lang="en-US" sz="185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6" name="Google Shape;166;p41"/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b="0" i="0" lang="en-US" sz="185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7" name="Google Shape;167;p41"/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b="0" i="0" lang="en-US" sz="185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2"/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Future Scope </a:t>
            </a:r>
            <a:endParaRPr b="1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2"/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sz="1400" b="1">
                <a:solidFill>
                  <a:srgbClr val="000000"/>
                </a:solidFill>
                <a:latin typeface="Arial"/>
              </a:rPr>
              <a:t>1. Carbon Footprint Tracking – </a:t>
            </a:r>
            <a:endParaRPr/>
          </a:p>
          <a:p>
            <a:r>
              <a:rPr sz="1400" b="0">
                <a:solidFill>
                  <a:srgbClr val="000000"/>
                </a:solidFill>
                <a:latin typeface="Arial"/>
              </a:rPr>
              <a:t>Integrating with utility bills, travel data, and purchase history to estimate a user's personal carbon footprint and suggest targeted reductions.</a:t>
            </a:r>
          </a:p>
          <a:p>
            <a:r>
              <a:rPr sz="1400" b="1">
                <a:solidFill>
                  <a:srgbClr val="000000"/>
                </a:solidFill>
                <a:latin typeface="Arial"/>
              </a:rPr>
              <a:t>2. Multilingual &amp; Location-Aware Support – </a:t>
            </a:r>
          </a:p>
          <a:p>
            <a:r>
              <a:rPr sz="1400" b="0">
                <a:solidFill>
                  <a:srgbClr val="000000"/>
                </a:solidFill>
                <a:latin typeface="Arial"/>
              </a:rPr>
              <a:t>Adding regional language support and hyper-local recycling/government-scheme data so guidance is relevant to the user's exact city or state.</a:t>
            </a:r>
          </a:p>
        </p:txBody>
      </p:sp>
      <p:sp>
        <p:nvSpPr>
          <p:cNvPr id="174" name="Google Shape;174;p42"/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b="0" i="0" lang="en-US" sz="185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5" name="Google Shape;175;p42"/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b="0" i="0" lang="en-US" sz="185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6" name="Google Shape;176;p42"/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b="0" i="0" lang="en-US" sz="1850" u="none" cap="none" strike="noStrik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b="0" i="0" sz="1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3"/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Certificates Earned: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43"/>
          <p:cNvSpPr txBox="1"/>
          <p:nvPr/>
        </p:nvSpPr>
        <p:spPr>
          <a:xfrm>
            <a:off x="552048" y="690061"/>
            <a:ext cx="638996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Please  add your credly certificate </a:t>
            </a:r>
            <a:endParaRPr/>
          </a:p>
        </p:txBody>
      </p:sp>
      <p:pic>
        <p:nvPicPr>
          <p:cNvPr id="184" name="Picture 183" descr="credly_cert-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862" y="1485577"/>
            <a:ext cx="6911761" cy="45207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certificate with red text&#10;&#10;AI-generated content may be incorrect." id="188" name="Google Shape;188;p44"/>
          <p:cNvPicPr preferRelativeResize="0"/>
          <p:nvPr/>
        </p:nvPicPr>
        <p:blipFill rotWithShape="1">
          <a:blip r:embed="rId3">
            <a:alphaModFix/>
          </a:blip>
          <a:srcRect b="-275" l="0" r="177" t="0"/>
          <a:stretch/>
        </p:blipFill>
        <p:spPr>
          <a:xfrm>
            <a:off x="2512736" y="1712637"/>
            <a:ext cx="7177553" cy="4658577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44"/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Certificates Earned:</a:t>
            </a:r>
            <a:r>
              <a:rPr b="0" i="0" lang="en-US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4"/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Add your IBM BOB Certificate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2025-07-08T05:06:56Z</dcterms:created>
  <dc:creator>Manda Anirudh</dc:creator>
</cp:coreProperties>
</file>