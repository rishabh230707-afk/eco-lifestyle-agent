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shabh230707-afk/eco-lifestyle-agent" TargetMode="Externa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IBM UNIVERSITY ENGAGEMENT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55448"/>
            <a:ext cx="5303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DCDCDC"/>
                </a:solidFill>
                <a:latin typeface="Arial"/>
              </a:rPr>
              <a:t>IBM SkillsBuild  |  Edunet Foundation  |  AICTE Virtual Internship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731520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b="1" sz="2200">
                <a:latin typeface="Arial"/>
              </a:rPr>
              <a:t>Eco Lifestyle Agent</a:t>
            </a:r>
          </a:p>
          <a:p>
            <a:r>
              <a:rPr b="1" sz="2200">
                <a:latin typeface="Arial"/>
              </a:rPr>
              <a:t>with IBM Granite and watsonx Orchestrate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4884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>
                <a:latin typeface="Arial"/>
              </a:rPr>
              <a:t>A RAG-Based Sustainable Living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542032"/>
            <a:ext cx="74980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>
                <a:latin typeface="Arial"/>
              </a:rPr>
              <a:t>Built using IBM Cloud Lite, IBM watsonx.ai, IBM Granite Foundation Models, IBM watsonx Orchestrate and Retrieval-Augmented Generation (RAG)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58368"/>
          </a:xfrm>
          <a:prstGeom prst="rect">
            <a:avLst/>
          </a:prstGeom>
          <a:solidFill>
            <a:srgbClr val="003069"/>
          </a:solidFill>
          <a:ln>
            <a:solidFill>
              <a:srgbClr val="0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47472"/>
            <a:ext cx="8823960" cy="32004"/>
          </a:xfrm>
          <a:prstGeom prst="rect">
            <a:avLst/>
          </a:prstGeom>
          <a:solidFill>
            <a:srgbClr val="0053A0"/>
          </a:solidFill>
          <a:ln>
            <a:solidFill>
              <a:srgbClr val="00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64592"/>
            <a:ext cx="12344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3000" b="1">
                <a:solidFill>
                  <a:srgbClr val="0053A0"/>
                </a:solidFill>
                <a:latin typeface="Arial"/>
              </a:defRPr>
            </a:pPr>
            <a:r>
              <a:rPr>
                <a:latin typeface="Arial"/>
              </a:rPr>
              <a:t>IBM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27080" y="91440"/>
            <a:ext cx="18288" cy="502920"/>
          </a:xfrm>
          <a:prstGeom prst="rect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91440"/>
            <a:ext cx="100584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E7801C"/>
                </a:solidFill>
                <a:latin typeface="Arial"/>
              </a:defRPr>
            </a:pPr>
            <a:r>
              <a:rPr>
                <a:latin typeface="Arial"/>
              </a:rPr>
              <a:t>AICTE</a:t>
            </a:r>
            <a:br/>
            <a:r>
              <a:rPr>
                <a:latin typeface="Arial"/>
              </a:rPr>
              <a:t>INTERNSHIP</a:t>
            </a:r>
            <a:br/>
            <a:r>
              <a:rPr>
                <a:latin typeface="Arial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26517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Project Title –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53312"/>
            <a:ext cx="77724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Eco Lifestyle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32461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Domain of Project –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167128"/>
            <a:ext cx="78638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4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Environment / Sustainability / AI for 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7063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College – Maharaja Agrasen Institute of Technology (MAIT)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72968"/>
            <a:ext cx="2514600" cy="786384"/>
          </a:xfrm>
          <a:prstGeom prst="rect">
            <a:avLst/>
          </a:prstGeom>
          <a:solidFill>
            <a:srgbClr val="005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Student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59352"/>
            <a:ext cx="2514600" cy="2331720"/>
          </a:xfrm>
          <a:prstGeom prst="rect">
            <a:avLst/>
          </a:prstGeom>
          <a:solidFill>
            <a:srgbClr val="E8F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919472"/>
            <a:ext cx="23317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Rishabh Bansal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172968"/>
            <a:ext cx="2852928" cy="786384"/>
          </a:xfrm>
          <a:prstGeom prst="rect">
            <a:avLst/>
          </a:prstGeom>
          <a:solidFill>
            <a:srgbClr val="005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Recent Passport</a:t>
            </a:r>
            <a:br/>
            <a:r>
              <a:rPr>
                <a:latin typeface="Arial"/>
              </a:rPr>
              <a:t>Photo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959352"/>
            <a:ext cx="2852928" cy="2331720"/>
          </a:xfrm>
          <a:prstGeom prst="rect">
            <a:avLst/>
          </a:prstGeom>
          <a:solidFill>
            <a:srgbClr val="E8F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70448" y="3172968"/>
            <a:ext cx="3182112" cy="786384"/>
          </a:xfrm>
          <a:prstGeom prst="rect">
            <a:avLst/>
          </a:prstGeom>
          <a:solidFill>
            <a:srgbClr val="005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Email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70448" y="3959352"/>
            <a:ext cx="3182112" cy="2331720"/>
          </a:xfrm>
          <a:prstGeom prst="rect">
            <a:avLst/>
          </a:prstGeom>
          <a:solidFill>
            <a:srgbClr val="E8F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4919472"/>
            <a:ext cx="299923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rishabhb2307@gmail.com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172968"/>
            <a:ext cx="2560320" cy="786384"/>
          </a:xfrm>
          <a:prstGeom prst="rect">
            <a:avLst/>
          </a:prstGeom>
          <a:solidFill>
            <a:srgbClr val="0053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Mobile number</a:t>
            </a:r>
            <a:br/>
            <a:r>
              <a:rPr>
                <a:latin typeface="Arial"/>
              </a:rPr>
              <a:t>[WhatsApp]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959352"/>
            <a:ext cx="2560320" cy="2331720"/>
          </a:xfrm>
          <a:prstGeom prst="rect">
            <a:avLst/>
          </a:prstGeom>
          <a:solidFill>
            <a:srgbClr val="E8F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919472"/>
            <a:ext cx="237743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8595803248</a:t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33" y="4123944"/>
            <a:ext cx="1888901" cy="20116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499533" y="4123944"/>
            <a:ext cx="1888901" cy="201168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914400" cy="365760"/>
          </a:xfrm>
          <a:prstGeom prst="rect">
            <a:avLst/>
          </a:prstGeom>
          <a:solidFill>
            <a:srgbClr val="003069"/>
          </a:solidFill>
          <a:ln>
            <a:solidFill>
              <a:srgbClr val="0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20" y="6629400"/>
            <a:ext cx="9326880" cy="27432"/>
          </a:xfrm>
          <a:prstGeom prst="rect">
            <a:avLst/>
          </a:prstGeom>
          <a:solidFill>
            <a:srgbClr val="0053A0"/>
          </a:solidFill>
          <a:ln>
            <a:solidFill>
              <a:srgbClr val="005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121408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167128"/>
            <a:ext cx="3520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Domain of Project 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2167128"/>
            <a:ext cx="7818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4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Environment / Sustainability / AI for Sustainability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77063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College – Maharaja Agrasen Institute of Technology (MAIT)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16712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Problem Statement: Eco Lifestyle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The challenge is fragmented, generic, and non-personalized sustainability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61616"/>
                </a:solidFill>
                <a:latin typeface="Arial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5760720" cy="23774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Reliable sustainability information is scattered across government portals, NGO resources, product websites and local service pages.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Existing search results are generic and do not adapt to user location, lifestyle, budget or habits.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Users struggle to find local recycling rules, eco-friendly alternatives and government schemes in one place.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A conversational AI assistant is needed to convert trusted environmental data into practical daily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61616"/>
                </a:solidFill>
                <a:latin typeface="Arial"/>
              </a:rPr>
              <a:t>The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1965960"/>
            <a:ext cx="4937760" cy="23774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Build an AI-powered Eco Lifestyle Agent that answers natural language questions.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Use RAG to retrieve trusted environmental information before response generation.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Generate personalized, actionable recommendations using IBM Granite Foundation Models.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Deploy on IBM Cloud Lite using a scalable, enterprise-ready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9204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62FE"/>
                </a:solidFill>
                <a:latin typeface="Arial"/>
              </a:rPr>
              <a:t>Example Questions the Agent Can Handle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349240"/>
            <a:ext cx="5212080" cy="329184"/>
          </a:xfrm>
          <a:prstGeom prst="roundRect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F62FE"/>
                </a:solidFill>
                <a:latin typeface="Arial"/>
              </a:rPr>
              <a:t>How can I reduce plastic use at home?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5349240"/>
            <a:ext cx="5212080" cy="329184"/>
          </a:xfrm>
          <a:prstGeom prst="roundRect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4A148"/>
                </a:solidFill>
                <a:latin typeface="Arial"/>
              </a:rPr>
              <a:t>What are eco-friendly travel options in my city?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852159"/>
            <a:ext cx="5212080" cy="329184"/>
          </a:xfrm>
          <a:prstGeom prst="roundRect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F62FE"/>
                </a:solidFill>
                <a:latin typeface="Arial"/>
              </a:rPr>
              <a:t>Where can I recycle e-waste?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5852159"/>
            <a:ext cx="5212080" cy="329184"/>
          </a:xfrm>
          <a:prstGeom prst="roundRect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4A148"/>
                </a:solidFill>
                <a:latin typeface="Arial"/>
              </a:rPr>
              <a:t>Which schemes support solar adoption?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16712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A RAG-powered, agentic sustainability assistant built on IBM Cloud and Granite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1064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93939"/>
                </a:solidFill>
                <a:latin typeface="Arial"/>
              </a:rPr>
              <a:t>The Eco Lifestyle Agent combines trusted environmental knowledge with IBM Granite reasoning to deliver personalized, grounded sustainability guidance. The system retrieves relevant documents first, then generates a response using the retrieved context, reducing hallucinations and improving reliability.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06040"/>
            <a:ext cx="26060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606040"/>
            <a:ext cx="54864" cy="120700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77063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80720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A148"/>
                </a:solidFill>
                <a:latin typeface="Arial"/>
              </a:rPr>
              <a:t>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743200"/>
            <a:ext cx="18105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118104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Eco tips, recycling rules, government schemes, product guidance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606040"/>
            <a:ext cx="26060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606040"/>
            <a:ext cx="54864" cy="1207008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03320" y="277063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80720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D79"/>
                </a:solidFill>
                <a:latin typeface="Arial"/>
              </a:rPr>
              <a:t>VR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2743200"/>
            <a:ext cx="18105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Vector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3118104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Semantic search over FAISS/Chroma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606040"/>
            <a:ext cx="26060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9088" y="2606040"/>
            <a:ext cx="54864" cy="1207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79" y="277063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280720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62FE"/>
                </a:solidFill>
                <a:latin typeface="Arial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5" y="2743200"/>
            <a:ext cx="18105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IBM Granite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5" y="3118104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Reasoning, summarization and response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2606040"/>
            <a:ext cx="26060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9448" y="2606040"/>
            <a:ext cx="54864" cy="1207008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64040" y="277063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80720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8A3FFC"/>
                </a:solidFill>
                <a:latin typeface="Arial"/>
              </a:rPr>
              <a:t>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2743200"/>
            <a:ext cx="181051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Flask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3118104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Simple user-facing chat interface with REST APIs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800600"/>
            <a:ext cx="1600200" cy="502920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616"/>
                </a:solidFill>
                <a:latin typeface="Arial"/>
              </a:rPr>
              <a:t>User Query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96896" y="5056632"/>
            <a:ext cx="438912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072384" y="4800600"/>
            <a:ext cx="2057400" cy="502920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616"/>
                </a:solidFill>
                <a:latin typeface="Arial"/>
              </a:rPr>
              <a:t>Retrieve Trusted Data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75504" y="5056632"/>
            <a:ext cx="45720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69280" y="4800600"/>
            <a:ext cx="2148840" cy="502920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616"/>
                </a:solidFill>
                <a:latin typeface="Arial"/>
              </a:rPr>
              <a:t>IBM Granite Generates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63840" y="5056632"/>
            <a:ext cx="45720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357616" y="4800600"/>
            <a:ext cx="2240280" cy="502920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616"/>
                </a:solidFill>
                <a:latin typeface="Arial"/>
              </a:rPr>
              <a:t>Actionable Eco Advice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669280"/>
            <a:ext cx="9875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61616"/>
                </a:solidFill>
                <a:latin typeface="Arial"/>
              </a:rPr>
              <a:t>Expected Impact: Better awareness, easier sustainable choices, and faster access to trusted eco guidance.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965960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Enterprise-grade tools aligned with IBM SkillsBuild project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017520" cy="420624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2871215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508760"/>
            <a:ext cx="7863840" cy="420624"/>
          </a:xfrm>
          <a:prstGeom prst="rect">
            <a:avLst/>
          </a:prstGeom>
          <a:solidFill>
            <a:srgbClr val="0F62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618488"/>
            <a:ext cx="7717536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Use in Eco Lifestyle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30175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29967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IBM watsonx Orchestrate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929384"/>
            <a:ext cx="786384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029967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>
                <a:latin typeface="Arial"/>
              </a:rPr>
              <a:t>Visual orchestration of the RAG workflow using connected input, retrieval, model and output components.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50008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50591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IBM Granite Foundation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350008"/>
            <a:ext cx="7863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2450591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Natural language understanding, reasoning, summarization and personalized answer generation.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770632"/>
            <a:ext cx="30175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871216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IBM watsonx.ai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770632"/>
            <a:ext cx="786384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2871216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>
                <a:latin typeface="Arial"/>
              </a:rPr>
              <a:t>IBM AI platform for accessing Granite foundation models, experimentation and governance-ready AI workflows.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191256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291840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IBM Cloud Lite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3191256"/>
            <a:ext cx="7863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3291840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Cloud infrastructure for hosting, services, storage and scalable deployment.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611880"/>
            <a:ext cx="30175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12464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RAG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611880"/>
            <a:ext cx="786384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3712464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Retrieves verified environmental data first, then generates grounded responses.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032504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133088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Vector 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4032504"/>
            <a:ext cx="7863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76472" y="4133088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FAISS/Chroma for embedding storage and semantic similarity search.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453128"/>
            <a:ext cx="30175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4553712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Python + Flask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4453128"/>
            <a:ext cx="786384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76472" y="4553712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Backend application layer and lightweight chat interface.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873752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4974336"/>
            <a:ext cx="2871215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161616"/>
                </a:solidFill>
                <a:latin typeface="Arial"/>
              </a:rPr>
              <a:t>REST APIs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4873752"/>
            <a:ext cx="7863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76472" y="4974336"/>
            <a:ext cx="771753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80" b="0">
                <a:solidFill>
                  <a:srgbClr val="393939"/>
                </a:solidFill>
                <a:latin typeface="Arial"/>
              </a:rPr>
              <a:t>Integration layer connecting UI, retrieval logic and model response generation.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368296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ORCHESTRATION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watsonx Orchestrate Components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Reusable visual building blocks for the Eco Lifestyle Agent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864" cy="8412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54480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1) Chat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29384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Collects user questions such as plastic reduction, green travel or recycling help.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554480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2) File / Document 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29384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Loads environmental documents, sustainability guides and scheme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96312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496312"/>
            <a:ext cx="54864" cy="8412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633472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3) Text Splitter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008376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Breaks long documents into smaller chunks for retrieval.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96312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96312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2633472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4) Embedding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008376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Converts text chunks and user queries into vector representations.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75304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575304"/>
            <a:ext cx="54864" cy="8412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712464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5) Vector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087368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Stores embeddings in FAISS/Chroma for semantic search.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75304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575304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3712464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6) Retriever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4087368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Fetches the most relevant chunks for the current user query.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54296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654296"/>
            <a:ext cx="54864" cy="8412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791456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7) IBM watsonx AI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166360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Uses IBM Granite to reason over retrieved context and generate the final answer.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654296"/>
            <a:ext cx="5120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654296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4791456"/>
            <a:ext cx="47823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8) Chat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5166360"/>
            <a:ext cx="47365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Displays grounded, actionable sustainability guidance to the user.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16712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IMPLEMENTATION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watsonx Orchestrate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Visual orchestration of the Eco Lifestyle Agent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508760" cy="566928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Chat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82880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Prompt 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Document Loader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Text Splitter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09728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09728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Vector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34640"/>
            <a:ext cx="1508760" cy="566928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Retriever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34640"/>
            <a:ext cx="1874519" cy="566928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IBM watsonx AI Agent</a:t>
            </a:r>
            <a:br/>
            <a:r>
              <a:rPr sz="930" b="1">
                <a:solidFill>
                  <a:srgbClr val="161616"/>
                </a:solidFill>
                <a:latin typeface="Arial"/>
              </a:rPr>
              <a:t>(Granite)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834640"/>
            <a:ext cx="1508760" cy="566928"/>
          </a:xfrm>
          <a:prstGeom prst="roundRect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161616"/>
                </a:solidFill>
                <a:latin typeface="Arial"/>
              </a:rPr>
              <a:t>Chat 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211226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23360" y="211226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52160" y="138074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80960" y="138074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1380744"/>
            <a:ext cx="29260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074920" y="1691640"/>
            <a:ext cx="5486400" cy="1097280"/>
          </a:xfrm>
          <a:prstGeom prst="line">
            <a:avLst/>
          </a:prstGeom>
          <a:ln w="1905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70448" y="3118104"/>
            <a:ext cx="45720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75320" y="3118104"/>
            <a:ext cx="429768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475488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Arial"/>
              </a:rPr>
              <a:t>Workflow 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02352"/>
            <a:ext cx="1033272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80">
                <a:solidFill>
                  <a:srgbClr val="393939"/>
                </a:solidFill>
                <a:latin typeface="Arial"/>
              </a:rPr>
              <a:t>• IBM watsonx Orchestrate provides a low-code pipeline that connects input, retrieval, reasoning and output components.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80">
                <a:solidFill>
                  <a:srgbClr val="393939"/>
                </a:solidFill>
                <a:latin typeface="Arial"/>
              </a:rPr>
              <a:t>• The workflow keeps the system modular, transparent and easier to debug during development.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80">
                <a:solidFill>
                  <a:srgbClr val="393939"/>
                </a:solidFill>
                <a:latin typeface="Arial"/>
              </a:rPr>
              <a:t>• IBM Granite generates the final response only after relevant environmental context is retrieved.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267004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ARCHITECTURE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End-to-end architecture for the Eco Lifestyle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62FE"/>
                </a:solidFill>
                <a:latin typeface="Arial"/>
              </a:rPr>
              <a:t>User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82880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User /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161288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7D79"/>
                </a:solidFill>
                <a:latin typeface="Arial"/>
              </a:rPr>
              <a:t>Application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08760"/>
            <a:ext cx="182880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Flask Web UI</a:t>
            </a:r>
            <a:br/>
            <a:r>
              <a:rPr sz="1000" b="1">
                <a:solidFill>
                  <a:srgbClr val="161616"/>
                </a:solidFill>
                <a:latin typeface="Arial"/>
              </a:rPr>
              <a:t>+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161288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62FE"/>
                </a:solidFill>
                <a:latin typeface="Arial"/>
              </a:rPr>
              <a:t>AI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508760"/>
            <a:ext cx="182880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watsonx.ai</a:t>
            </a:r>
            <a:br/>
            <a:r>
              <a:rPr sz="1000" b="1">
                <a:solidFill>
                  <a:srgbClr val="161616"/>
                </a:solidFill>
                <a:latin typeface="Arial"/>
              </a:rPr>
              <a:t>IBM Granite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161288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4A148"/>
                </a:solidFill>
                <a:latin typeface="Arial"/>
              </a:rPr>
              <a:t>Retrieval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508760"/>
            <a:ext cx="1920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RAG Retriever</a:t>
            </a:r>
            <a:br/>
            <a:r>
              <a:rPr sz="1000" b="1">
                <a:solidFill>
                  <a:srgbClr val="161616"/>
                </a:solidFill>
                <a:latin typeface="Arial"/>
              </a:rPr>
              <a:t>FAISS / Chroma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161288"/>
            <a:ext cx="20116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8A3FFC"/>
                </a:solidFill>
                <a:latin typeface="Arial"/>
              </a:rPr>
              <a:t>Data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508760"/>
            <a:ext cx="201168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1616"/>
                </a:solidFill>
                <a:latin typeface="Arial"/>
              </a:rPr>
              <a:t>Eco Knowledge Base</a:t>
            </a:r>
            <a:br/>
            <a:r>
              <a:rPr sz="1000" b="1">
                <a:solidFill>
                  <a:srgbClr val="161616"/>
                </a:solidFill>
                <a:latin typeface="Arial"/>
              </a:rPr>
              <a:t>COS Documents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1783080"/>
            <a:ext cx="32004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3440" y="1783080"/>
            <a:ext cx="32004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12280" y="1783080"/>
            <a:ext cx="32004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1783080"/>
            <a:ext cx="320040" cy="0"/>
          </a:xfrm>
          <a:prstGeom prst="line">
            <a:avLst/>
          </a:prstGeom>
          <a:ln w="2286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9720" y="2743200"/>
            <a:ext cx="2377440" cy="420624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1616"/>
                </a:solidFill>
                <a:latin typeface="Arial"/>
              </a:rPr>
              <a:t>Recycling Guidelines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0012680" y="2093976"/>
            <a:ext cx="0" cy="649224"/>
          </a:xfrm>
          <a:prstGeom prst="line">
            <a:avLst/>
          </a:prstGeom>
          <a:ln w="1397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89720" y="3429000"/>
            <a:ext cx="2377440" cy="420624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1616"/>
                </a:solidFill>
                <a:latin typeface="Arial"/>
              </a:rPr>
              <a:t>Govt. Schemes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0012680" y="2093976"/>
            <a:ext cx="0" cy="1335024"/>
          </a:xfrm>
          <a:prstGeom prst="line">
            <a:avLst/>
          </a:prstGeom>
          <a:ln w="1397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9720" y="4114800"/>
            <a:ext cx="2377440" cy="420624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1616"/>
                </a:solidFill>
                <a:latin typeface="Arial"/>
              </a:rPr>
              <a:t>Eco Product Data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012680" y="2093976"/>
            <a:ext cx="0" cy="2020824"/>
          </a:xfrm>
          <a:prstGeom prst="line">
            <a:avLst/>
          </a:prstGeom>
          <a:ln w="1397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20" y="4800600"/>
            <a:ext cx="2377440" cy="420624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1616"/>
                </a:solidFill>
                <a:latin typeface="Arial"/>
              </a:rPr>
              <a:t>Energy &amp; Water Tips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012680" y="2093976"/>
            <a:ext cx="0" cy="2706624"/>
          </a:xfrm>
          <a:prstGeom prst="line">
            <a:avLst/>
          </a:prstGeom>
          <a:ln w="13970">
            <a:solidFill>
              <a:srgbClr val="24A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297180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2971800"/>
            <a:ext cx="54864" cy="10058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3108960"/>
            <a:ext cx="33192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Grounded Answering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3483864"/>
            <a:ext cx="327355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RAG retrieves trusted documents so Granite can generate responses anchored in verified context.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297180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2971800"/>
            <a:ext cx="54864" cy="100584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3108960"/>
            <a:ext cx="33192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Personalization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483864"/>
            <a:ext cx="327355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User context such as city, habit, goal or lifestyle preference improves recommendation quality.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38912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389120"/>
            <a:ext cx="54864" cy="100584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526280"/>
            <a:ext cx="33192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Scalable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4901183"/>
            <a:ext cx="327355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IBM Cloud Lite supports development, testing and service-based deployment for the assistant.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438912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17720" y="4389120"/>
            <a:ext cx="54864" cy="100584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8888" y="4526280"/>
            <a:ext cx="331927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Explainability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4901183"/>
            <a:ext cx="3273552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The system can cite retrieved knowledge sources and show why a suggestion was recommended.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463040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Role of Agentic AI in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How the assistant behaves as a goal-driven AI system rather than a simple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60320" y="1737360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39" y="184708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1. Planning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Understand user goal</a:t>
            </a:r>
          </a:p>
        </p:txBody>
      </p:sp>
      <p:sp>
        <p:nvSpPr>
          <p:cNvPr id="8" name="Oval 7"/>
          <p:cNvSpPr/>
          <p:nvPr/>
        </p:nvSpPr>
        <p:spPr>
          <a:xfrm>
            <a:off x="4183701" y="2446020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9421" y="255574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2. Retrieval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Search trusted data</a:t>
            </a:r>
          </a:p>
        </p:txBody>
      </p:sp>
      <p:sp>
        <p:nvSpPr>
          <p:cNvPr id="10" name="Oval 9"/>
          <p:cNvSpPr/>
          <p:nvPr/>
        </p:nvSpPr>
        <p:spPr>
          <a:xfrm>
            <a:off x="4183701" y="3863339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9421" y="397306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3. Reasoning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Apply Granite logic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4572000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468172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4. Decision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Select best action</a:t>
            </a:r>
          </a:p>
        </p:txBody>
      </p:sp>
      <p:sp>
        <p:nvSpPr>
          <p:cNvPr id="14" name="Oval 13"/>
          <p:cNvSpPr/>
          <p:nvPr/>
        </p:nvSpPr>
        <p:spPr>
          <a:xfrm>
            <a:off x="936938" y="3863340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658" y="3973068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5. Personalization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Adapt to context</a:t>
            </a:r>
          </a:p>
        </p:txBody>
      </p:sp>
      <p:sp>
        <p:nvSpPr>
          <p:cNvPr id="16" name="Oval 15"/>
          <p:cNvSpPr/>
          <p:nvPr/>
        </p:nvSpPr>
        <p:spPr>
          <a:xfrm>
            <a:off x="936938" y="2446019"/>
            <a:ext cx="1371600" cy="640080"/>
          </a:xfrm>
          <a:prstGeom prst="ellipse">
            <a:avLst/>
          </a:prstGeom>
          <a:solidFill>
            <a:srgbClr val="EDF2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658" y="2555747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161616"/>
                </a:solidFill>
                <a:latin typeface="Arial"/>
              </a:rPr>
              <a:t>6. Response</a:t>
            </a:r>
            <a:br/>
            <a:r>
              <a:rPr sz="780" b="1">
                <a:solidFill>
                  <a:srgbClr val="161616"/>
                </a:solidFill>
                <a:latin typeface="Arial"/>
              </a:rPr>
              <a:t>Deliver guidance</a:t>
            </a:r>
          </a:p>
        </p:txBody>
      </p:sp>
      <p:sp>
        <p:nvSpPr>
          <p:cNvPr id="18" name="Oval 17"/>
          <p:cNvSpPr/>
          <p:nvPr/>
        </p:nvSpPr>
        <p:spPr>
          <a:xfrm>
            <a:off x="2514600" y="3063239"/>
            <a:ext cx="1463040" cy="822960"/>
          </a:xfrm>
          <a:prstGeom prst="ellipse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39" y="3273551"/>
            <a:ext cx="822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Eco</a:t>
            </a:r>
            <a:br/>
            <a:r>
              <a:rPr sz="12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1663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93939"/>
                </a:solidFill>
                <a:latin typeface="Arial"/>
              </a:rPr>
              <a:t>Agentic AI enables the Eco Lifestyle Agent to autonomously plan, retrieve information, reason over context, decide the most useful recommendation, and adapt the answer to user needs.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514600"/>
            <a:ext cx="4846320" cy="21945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Acts as an intelligent assistant, not only a static FAQ bot.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Coordinates retrieval, reasoning and response generation as a multi-step workflow.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Improves relevance by considering the user’s intent, location and sustainability goal.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393939"/>
                </a:solidFill>
                <a:latin typeface="Arial"/>
              </a:rPr>
              <a:t>• Supports continuous improvement through feedback and knowledge base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66360"/>
            <a:ext cx="4663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5166360"/>
            <a:ext cx="54864" cy="82296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5303520"/>
            <a:ext cx="432511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678424"/>
            <a:ext cx="427939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 proactive, context-aware and goal-driven digital sustainability advisor.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66420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RAG Workflow &amp;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How retrieval improves accuracy and converts questions into grounded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User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Vector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Context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Prompt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Granite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737360"/>
            <a:ext cx="118872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161616"/>
                </a:solidFill>
                <a:latin typeface="Arial"/>
              </a:rPr>
              <a:t>Response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2002536"/>
            <a:ext cx="365761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29000" y="2002536"/>
            <a:ext cx="365760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83480" y="2002536"/>
            <a:ext cx="365760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2002536"/>
            <a:ext cx="365761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2002536"/>
            <a:ext cx="365760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46920" y="2002536"/>
            <a:ext cx="365760" cy="0"/>
          </a:xfrm>
          <a:prstGeom prst="line">
            <a:avLst/>
          </a:prstGeom>
          <a:ln w="1651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288036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Arial"/>
              </a:rPr>
              <a:t>Prompt Strategy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383279"/>
            <a:ext cx="304495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System Instruction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758183"/>
            <a:ext cx="299923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Act as an eco lifestyle advisor. Use retrieved context only and avoid unsupported claims.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24612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246120"/>
            <a:ext cx="54864" cy="9601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7" y="3383279"/>
            <a:ext cx="304495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Retrieved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3758183"/>
            <a:ext cx="299923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Relevant chunks from recycling rules, sustainability guides and scheme documents.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24612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246120"/>
            <a:ext cx="54864" cy="96012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3383279"/>
            <a:ext cx="304495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Output 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3758183"/>
            <a:ext cx="2999232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Actionable steps, local considerations, safety notes and optional follow-up questions.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5488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Arial"/>
              </a:rPr>
              <a:t>Why RAG?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102352"/>
            <a:ext cx="1051560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393939"/>
                </a:solidFill>
                <a:latin typeface="Arial"/>
              </a:rPr>
              <a:t>• Reduces hallucinations by grounding responses in retrieved documents.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393939"/>
                </a:solidFill>
                <a:latin typeface="Arial"/>
              </a:rPr>
              <a:t>• Allows updates without retraining the foundation model.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393939"/>
                </a:solidFill>
                <a:latin typeface="Arial"/>
              </a:rPr>
              <a:t>• Supports domain-specific knowledge such as recycling rules and schemes.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393939"/>
                </a:solidFill>
                <a:latin typeface="Arial"/>
              </a:rPr>
              <a:t>• Improves transparency because retrieved evidence can be shown to the user.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143000" cy="310896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TOKEN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61616"/>
                </a:solidFill>
                <a:latin typeface="Arial"/>
              </a:rPr>
              <a:t>Token Usage &amp; Prompt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5252"/>
                </a:solidFill>
                <a:latin typeface="Arial"/>
              </a:rPr>
              <a:t>How the prompt was structured to control cost, improve clarity and keep answers grounded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1088136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6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8D8D8D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10515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75104"/>
            <a:ext cx="459943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61616"/>
                </a:solidFill>
                <a:latin typeface="Arial"/>
              </a:rPr>
              <a:t>Before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04288"/>
            <a:ext cx="4599431" cy="4846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25252"/>
                </a:solidFill>
                <a:latin typeface="Arial"/>
              </a:rPr>
              <a:t>“Give me eco tips for daily life.”</a:t>
            </a:r>
            <a:br/>
            <a:r>
              <a:rPr sz="1100" b="0">
                <a:solidFill>
                  <a:srgbClr val="525252"/>
                </a:solidFill>
                <a:latin typeface="Arial"/>
              </a:rPr>
              <a:t>Problem: broad, generic, no retrieved context, no output format.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4864" cy="105156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975104"/>
            <a:ext cx="459943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61616"/>
                </a:solidFill>
                <a:latin typeface="Arial"/>
              </a:rPr>
              <a:t>After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04288"/>
            <a:ext cx="4599431" cy="4846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25252"/>
                </a:solidFill>
                <a:latin typeface="Arial"/>
              </a:rPr>
              <a:t>“Act as an Eco Lifestyle Agent. Use retrieved environmental context to provide 5 practical actions. Avoid unsupported claims.”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8328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83280"/>
            <a:ext cx="54864" cy="13258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529584"/>
            <a:ext cx="2267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Prompt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858768"/>
            <a:ext cx="226771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User query + retrieved chunks + concise system instruction.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38328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3383280"/>
            <a:ext cx="54864" cy="132588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3529584"/>
            <a:ext cx="2267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Context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3858768"/>
            <a:ext cx="226771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Top-k retrieved documents limit unnecessary token growth.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38328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3383280"/>
            <a:ext cx="54864" cy="132588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529584"/>
            <a:ext cx="2267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3858768"/>
            <a:ext cx="226771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Reusable prompt template, structured answer format, fewer repeated instructions.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338328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0" y="3383280"/>
            <a:ext cx="54864" cy="1325880"/>
          </a:xfrm>
          <a:prstGeom prst="rect">
            <a:avLst/>
          </a:prstGeom>
          <a:solidFill>
            <a:srgbClr val="F1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1472" y="3529584"/>
            <a:ext cx="2267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1472" y="3858768"/>
            <a:ext cx="2267712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Focused, consistent and grounded responses with lower model usage.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166360"/>
            <a:ext cx="11064240" cy="685800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321808"/>
            <a:ext cx="107442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05347A"/>
                </a:solidFill>
                <a:latin typeface="Arial"/>
              </a:rPr>
              <a:t>Note: Exact token usage should be verified from watsonx.ai or deployment analytics during live execution. The prototype is optimized using compact prompts and limited retrieved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16128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Novelty and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What makes the Eco Lifestyle Agent more than a static information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111556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7647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62F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37360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1226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Plans, retrieves, reasons and responds through a goal-oriented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54864" cy="111556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1" y="17647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8013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A148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1737360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RAG-Based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11226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Combines search over trusted documents with IBM Granite generation.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0020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00200"/>
            <a:ext cx="54864" cy="1115568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176479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0136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D79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737360"/>
            <a:ext cx="254203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Context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11226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Adapts responses based on user goal, lifestyle and location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15468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154680"/>
            <a:ext cx="54864" cy="1115568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331927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35584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8A3FFC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291840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Government Scheme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66674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Surfaces relevant environmental policies and public schemes.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315468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3154680"/>
            <a:ext cx="54864" cy="111556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9431" y="331927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335584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A148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7" y="3291840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Sustainable Decision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7" y="366674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Converts complex information into small daily actions.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154680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154680"/>
            <a:ext cx="54864" cy="111556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02752" y="3319272"/>
            <a:ext cx="384048" cy="384048"/>
          </a:xfrm>
          <a:prstGeom prst="ellipse">
            <a:avLst/>
          </a:prstGeom>
          <a:solidFill>
            <a:srgbClr val="EDF2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3355848"/>
            <a:ext cx="3840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62FE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3291840"/>
            <a:ext cx="254203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Enterprise Readiness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3666744"/>
            <a:ext cx="29535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Uses IBM Cloud Lite, watsonx.ai and modular architecture for scalability.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25780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61616"/>
                </a:solidFill>
                <a:latin typeface="Arial"/>
              </a:rPr>
              <a:t>The solution is unique because it combines environmental knowledge retrieval, IBM Granite reasoning, and agentic personalization into a single sustainable-living assistant.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161288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Evaluation Metrics &amp;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Metrics used to validate technical quality and user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Response 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62FE"/>
                </a:solidFill>
                <a:latin typeface="Arial"/>
              </a:rPr>
              <a:t>Target: 90–95%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95144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Answers align with the retrieved environmental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Grounded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A148"/>
                </a:solidFill>
                <a:latin typeface="Arial"/>
              </a:rPr>
              <a:t>Enabled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95144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Generated output uses RAG-retrieved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673351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Hallucination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D79"/>
                </a:solidFill>
                <a:latin typeface="Arial"/>
              </a:rPr>
              <a:t>Reduced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95144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Responses are constrained by trusted knowledge sources.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81528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246120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Retrieval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557016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8A3FFC"/>
                </a:solidFill>
                <a:latin typeface="Arial"/>
              </a:rPr>
              <a:t>Target: &lt;2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867912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Fast semantic search over FAISS/Chroma vectors.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081528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246120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557016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62FE"/>
                </a:solidFill>
                <a:latin typeface="Arial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867912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Cloud-native architecture using IBM Cloud Lite services.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081528"/>
            <a:ext cx="33375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3246120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User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557016"/>
            <a:ext cx="29260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A148"/>
                </a:solidFill>
                <a:latin typeface="Arial"/>
              </a:rPr>
              <a:t>Conversational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867912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393939"/>
                </a:solidFill>
                <a:latin typeface="Arial"/>
              </a:rPr>
              <a:t>Simple natural language interface for non-technical users.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61616"/>
                </a:solidFill>
                <a:latin typeface="Arial"/>
              </a:rPr>
              <a:t>Expected Outcome: A trustworthy, scalable and easy-to-use AI assistant that helps users make informed eco-conscious decisions.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143000" cy="310896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61616"/>
                </a:solidFill>
                <a:latin typeface="Arial"/>
              </a:rPr>
              <a:t>Demo &amp; Sample Conversations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5252"/>
                </a:solidFill>
                <a:latin typeface="Arial"/>
              </a:rPr>
              <a:t>Representative interactions showing grounded sustainability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1088136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6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8D8D8D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75104"/>
            <a:ext cx="50109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User: How can I reduce plastic waste at home?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04288"/>
            <a:ext cx="5010912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Agent: Use cloth bags, avoid single-use cutlery, switch to refill products, carry a steel bottle and segregate plastic waste correctly.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6324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63240"/>
            <a:ext cx="54864" cy="9601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209544"/>
            <a:ext cx="50109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User: Suggest eco-friendly transportation options.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538728"/>
            <a:ext cx="5010912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Agent: Prefer public transport, cycling, walking, carpooling or electric vehicles. For short distances, walking and cycling have the lowest footprint.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9768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29768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443984"/>
            <a:ext cx="50109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User: How can I reduce electricity consumption?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773168"/>
            <a:ext cx="5010912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25252"/>
                </a:solidFill>
                <a:latin typeface="Arial"/>
              </a:rPr>
              <a:t>Agent: Use LED bulbs, unplug idle devices, choose star-rated appliances, optimize AC temperature and consider rooftop solar.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874519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61616"/>
                </a:solidFill>
                <a:latin typeface="Arial"/>
              </a:rPr>
              <a:t>Prototype Interaction Flow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2423160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404872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2404872"/>
            <a:ext cx="54864" cy="5029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2551176"/>
            <a:ext cx="30449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61616"/>
                </a:solidFill>
                <a:latin typeface="Arial"/>
              </a:rPr>
              <a:t>User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2880360"/>
            <a:ext cx="3044952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26" name="Oval 25"/>
          <p:cNvSpPr/>
          <p:nvPr/>
        </p:nvSpPr>
        <p:spPr>
          <a:xfrm>
            <a:off x="6720840" y="3136391"/>
            <a:ext cx="438912" cy="438912"/>
          </a:xfrm>
          <a:prstGeom prst="ellipse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118103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20" y="3118103"/>
            <a:ext cx="54864" cy="5029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5512" y="3264408"/>
            <a:ext cx="30449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61616"/>
                </a:solidFill>
                <a:latin typeface="Arial"/>
              </a:rPr>
              <a:t>RAG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593591"/>
            <a:ext cx="3044952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31" name="Oval 30"/>
          <p:cNvSpPr/>
          <p:nvPr/>
        </p:nvSpPr>
        <p:spPr>
          <a:xfrm>
            <a:off x="6720840" y="3849624"/>
            <a:ext cx="438912" cy="438912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3831336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831336"/>
            <a:ext cx="54864" cy="5029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25512" y="3977640"/>
            <a:ext cx="30449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61616"/>
                </a:solidFill>
                <a:latin typeface="Arial"/>
              </a:rPr>
              <a:t>Context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12" y="4306824"/>
            <a:ext cx="3044952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36" name="Oval 35"/>
          <p:cNvSpPr/>
          <p:nvPr/>
        </p:nvSpPr>
        <p:spPr>
          <a:xfrm>
            <a:off x="6720840" y="4562856"/>
            <a:ext cx="438912" cy="438912"/>
          </a:xfrm>
          <a:prstGeom prst="ellipse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0920" y="4544568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60920" y="4544568"/>
            <a:ext cx="54864" cy="5029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4690872"/>
            <a:ext cx="30449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61616"/>
                </a:solidFill>
                <a:latin typeface="Arial"/>
              </a:rPr>
              <a:t>IBM Granite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5020056"/>
            <a:ext cx="3044952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29400" y="5532120"/>
            <a:ext cx="45720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25252"/>
                </a:solidFill>
                <a:latin typeface="Arial"/>
              </a:rPr>
              <a:t>The demo validates the core workflow: intent capture → trusted retrieval → grounded recommendation.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143000" cy="310896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61616"/>
                </a:solidFill>
                <a:latin typeface="Arial"/>
              </a:rPr>
              <a:t>GitHub Repository &amp; Code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5252"/>
                </a:solidFill>
                <a:latin typeface="Arial"/>
              </a:rPr>
              <a:t>Public repository section as required by the submission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1088136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6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8D8D8D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852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9144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75104"/>
            <a:ext cx="55595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61616"/>
                </a:solidFill>
                <a:latin typeface="Arial"/>
              </a:rPr>
              <a:t>Repository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04288"/>
            <a:ext cx="5559552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525252"/>
                </a:solidFill>
                <a:latin typeface="Arial"/>
              </a:rPr>
              <a:t>https://github.com/rishabh230707-afk/eco-lifestyle-agent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5852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54864" cy="214884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209544"/>
            <a:ext cx="55595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Repository Contents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38728"/>
            <a:ext cx="5559552" cy="1581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050" b="0">
                <a:solidFill>
                  <a:srgbClr val="525252"/>
                </a:solidFill>
                <a:latin typeface="Arial"/>
              </a:rPr>
              <a:t>• README.md with overview and setup steps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app.json project metadata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app.py Flask backend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requirements.txt and .env.example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src/ RAG engine code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data/ environmental knowledge files</a:t>
            </a:r>
            <a:br/>
            <a:r>
              <a:rPr sz="1050" b="0">
                <a:solidFill>
                  <a:srgbClr val="525252"/>
                </a:solidFill>
                <a:latin typeface="Arial"/>
              </a:rPr>
              <a:t>• templates/ and static/ web interface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4023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828800"/>
            <a:ext cx="54864" cy="100584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1975104"/>
            <a:ext cx="37307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61616"/>
                </a:solidFill>
                <a:latin typeface="Arial"/>
              </a:rPr>
              <a:t>Repository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304288"/>
            <a:ext cx="373075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25252"/>
                </a:solidFill>
                <a:latin typeface="Arial"/>
              </a:rPr>
              <a:t>Public GitHub repository created and linked for submission.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063240"/>
            <a:ext cx="2331720" cy="2331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43800" y="5623560"/>
            <a:ext cx="36576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525252"/>
                </a:solidFill>
                <a:latin typeface="Arial"/>
              </a:rPr>
              <a:t>Scan the QR code or click the URL to open the public project repository.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417320" cy="310896"/>
          </a:xfrm>
          <a:prstGeom prst="roundRect">
            <a:avLst/>
          </a:prstGeom>
          <a:solidFill>
            <a:srgbClr val="EBF3FF"/>
          </a:solidFill>
          <a:ln>
            <a:solidFill>
              <a:srgbClr val="A6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61616"/>
                </a:solidFill>
                <a:latin typeface="Arial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25252"/>
                </a:solidFill>
                <a:latin typeface="Arial"/>
              </a:rPr>
              <a:t>Planned enhancements to make the agent more accessible, intelligent and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1088136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6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8D8D8D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4864" cy="1143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" y="203911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62F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03911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Voice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4144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Hands-free natural language access for daily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74519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74519"/>
            <a:ext cx="54864" cy="114300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30752" y="203911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4A148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Regional + Location-Aware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44144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Hindi/Indian language support with city-specific recycling and scheme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874519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874519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56831" y="203911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79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03911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Carbon Calculator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244144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Estimate and track personal carbon footprint from habits and choices.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874519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1874519"/>
            <a:ext cx="54864" cy="11430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82912" y="203911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3FFC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1552" y="203911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Image Recognition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244144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Classify waste items using camera input for correct segregation.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429000"/>
            <a:ext cx="54864" cy="1143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671" y="359359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62FE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359359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IoT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399592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Use smart meter and home sensor data for better recommendations.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34290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66160" y="3429000"/>
            <a:ext cx="54864" cy="114300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752" y="359359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4A148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359359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Mobile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7328" y="399592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Always-available sustainable living assistant on mobile devices.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4290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34290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56831" y="359359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00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79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359359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Gamification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7" y="399592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Reward users for completing eco-friendly actions and challenges.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34290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18320" y="3429000"/>
            <a:ext cx="54864" cy="11430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82912" y="3593592"/>
            <a:ext cx="384048" cy="384048"/>
          </a:xfrm>
          <a:prstGeom prst="ellipse">
            <a:avLst/>
          </a:prstGeom>
          <a:solidFill>
            <a:srgbClr val="EBF3FF"/>
          </a:solidFill>
          <a:ln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3FFC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31552" y="359359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1616"/>
                </a:solidFill>
                <a:latin typeface="Arial"/>
              </a:rPr>
              <a:t>Smart Home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3995928"/>
            <a:ext cx="2039112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25252"/>
                </a:solidFill>
                <a:latin typeface="Arial"/>
              </a:rPr>
              <a:t>Energy-saving suggestions from appliance usage patterns.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102352"/>
            <a:ext cx="10058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61616"/>
                </a:solidFill>
                <a:latin typeface="Arial"/>
              </a:rPr>
              <a:t>Roadmap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Current RAG Agent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3320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Voice + Regional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77840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Carbon + Image 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59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IoT + Mobile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544068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61616"/>
                </a:solidFill>
                <a:latin typeface="Arial"/>
              </a:rPr>
              <a:t>Gamified Impact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69"/>
          </a:solidFill>
          <a:ln>
            <a:solidFill>
              <a:srgbClr val="0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Certificates 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20116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Arial"/>
              </a:rPr>
              <a:t>IBM SkillsBuild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5303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Credly Certificate – Getting Started with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777240"/>
            <a:ext cx="5303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IBM Bob Certificate – Troubleshoot Your Code Using IBM Bob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11155680" cy="438912"/>
          </a:xfrm>
          <a:prstGeom prst="rect">
            <a:avLst/>
          </a:prstGeom>
          <a:solidFill>
            <a:srgbClr val="F0F7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003069"/>
                </a:solidFill>
                <a:latin typeface="Arial"/>
              </a:defRPr>
            </a:pPr>
            <a:r>
              <a:rPr>
                <a:latin typeface="Arial"/>
              </a:rPr>
              <a:t>Certificates validate IBM SkillsBuild learning completion and IBM Bob hands-on lab participation.</a:t>
            </a:r>
          </a:p>
        </p:txBody>
      </p:sp>
      <p:pic>
        <p:nvPicPr>
          <p:cNvPr id="11" name="Picture 10" descr="credly_cert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57052"/>
            <a:ext cx="5303520" cy="4098174"/>
          </a:xfrm>
          <a:prstGeom prst="rect">
            <a:avLst/>
          </a:prstGeom>
        </p:spPr>
      </p:pic>
      <p:pic>
        <p:nvPicPr>
          <p:cNvPr id="12" name="Picture 11" descr="bob_lab_cert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32108"/>
            <a:ext cx="5303520" cy="37480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1463040" cy="256032"/>
          </a:xfrm>
          <a:prstGeom prst="roundRect">
            <a:avLst/>
          </a:prstGeom>
          <a:solidFill>
            <a:srgbClr val="EDF2FF"/>
          </a:solidFill>
          <a:ln w="10160">
            <a:solidFill>
              <a:srgbClr val="A8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62FE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61616"/>
                </a:solidFill>
                <a:latin typeface="Arial"/>
              </a:rPr>
              <a:t>References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5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93939"/>
                </a:solidFill>
                <a:latin typeface="Arial"/>
              </a:rPr>
              <a:t>Documentation and learning resources used for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2880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45919"/>
            <a:ext cx="29992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IBM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20824"/>
            <a:ext cx="2953512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• IBM Cloud Documentation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IBM watsonx.ai Documentation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IBM Granite Foundation Models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IBM Cloud Object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54864" cy="288036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645919"/>
            <a:ext cx="29992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1616"/>
                </a:solidFill>
                <a:latin typeface="Arial"/>
              </a:rPr>
              <a:t>AI / ML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20824"/>
            <a:ext cx="2953512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• IBM watsonx Orchestrate Documentation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RAG Architecture Patterns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FAISS / Chroma Vector Database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Retrieval-Augmented Generation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337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54864" cy="288036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645919"/>
            <a:ext cx="2999231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>
                <a:latin typeface="Arial"/>
              </a:rPr>
              <a:t>Learning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20824"/>
            <a:ext cx="2953512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93939"/>
                </a:solidFill>
                <a:latin typeface="Arial"/>
              </a:rPr>
              <a:t>• IBM SkillsBuild Learning Platform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Edunet Foundation Internship Resources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AICTE Virtual Internship Program</a:t>
            </a:r>
            <a:br/>
            <a:r>
              <a:rPr sz="1050" b="0">
                <a:solidFill>
                  <a:srgbClr val="393939"/>
                </a:solidFill>
                <a:latin typeface="Arial"/>
              </a:rPr>
              <a:t>• IBM Developer 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61616"/>
                </a:solidFill>
                <a:latin typeface="Arial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527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0">
                <a:solidFill>
                  <a:srgbClr val="393939"/>
                </a:solidFill>
                <a:latin typeface="Arial"/>
              </a:rPr>
              <a:t>The Eco Lifestyle Agent demonstrates how IBM Cloud Lite, IBM watsonx.ai, IBM Granite Foundation Models and RAG can be combined to create a trustworthy AI assistant that promotes sustainable living through personalized, grounded and actionable guidance.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49807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8D8D8D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83096"/>
            <a:ext cx="320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8D8D8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5943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29260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BED2FF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60350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BEBEB"/>
                </a:solidFill>
                <a:latin typeface="Arial"/>
              </a:rPr>
              <a:t>Rishabh Bansal</a:t>
            </a:r>
            <a:br/>
            <a:r>
              <a:rPr sz="1700" b="0">
                <a:solidFill>
                  <a:srgbClr val="EBEBEB"/>
                </a:solidFill>
                <a:latin typeface="Arial"/>
              </a:rPr>
              <a:t>Maharaja Agrasen Institute of Technology (MAIT)</a:t>
            </a:r>
            <a:br/>
            <a:r>
              <a:rPr sz="1700" b="0">
                <a:solidFill>
                  <a:srgbClr val="EBEBEB"/>
                </a:solidFill>
                <a:latin typeface="Arial"/>
              </a:rPr>
              <a:t>rishabhb2307@gmail.com | 8595803248</a:t>
            </a:r>
          </a:p>
        </p:txBody>
      </p:sp>
      <p:sp>
        <p:nvSpPr>
          <p:cNvPr id="6" name="Oval 5"/>
          <p:cNvSpPr/>
          <p:nvPr/>
        </p:nvSpPr>
        <p:spPr>
          <a:xfrm>
            <a:off x="7543800" y="1325880"/>
            <a:ext cx="3383280" cy="3383280"/>
          </a:xfrm>
          <a:prstGeom prst="ellipse">
            <a:avLst/>
          </a:prstGeom>
          <a:solidFill>
            <a:srgbClr val="0F62FE"/>
          </a:solidFill>
          <a:ln w="15240">
            <a:solidFill>
              <a:srgbClr val="5A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8275320" y="2240280"/>
            <a:ext cx="1920240" cy="1143000"/>
          </a:xfrm>
          <a:prstGeom prst="arc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331720"/>
            <a:ext cx="21031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Eco</a:t>
            </a:r>
            <a:br/>
            <a:r>
              <a:rPr sz="2000" b="1">
                <a:solidFill>
                  <a:srgbClr val="FFFFFF"/>
                </a:solidFill>
                <a:latin typeface="Arial"/>
              </a:rPr>
              <a:t>Lifestyle</a:t>
            </a:r>
            <a:br/>
            <a:r>
              <a:rPr sz="20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  <a:latin typeface="Arial"/>
              </a:rPr>
              <a:t>IBM SkillsBuild | Edunet Foundation | AICTE Virtual Internship 2026–27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236208"/>
            <a:ext cx="274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C8C8C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