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rishabh230707-afk/eco-lifestyle-agent" TargetMode="Externa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2179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IBM UNIVERSITY ENGAGEMENT PROJECT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55448"/>
            <a:ext cx="5303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DCDCDC"/>
                </a:solidFill>
                <a:latin typeface="Arial"/>
              </a:rPr>
              <a:t>IBM SkillsBuild  |  Edunet Foundation  |  AICTE Virtual Internship 2026–27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7315200" cy="11155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 b="1" sz="2200">
                <a:latin typeface="Arial"/>
              </a:rPr>
              <a:t>Eco Lifestyle Agent</a:t>
            </a:r>
          </a:p>
          <a:p>
            <a:r>
              <a:rPr b="1" sz="2200">
                <a:latin typeface="Arial"/>
              </a:rPr>
              <a:t>with IBM Granite and watsonx Orchestrate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148840"/>
            <a:ext cx="49377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>
                <a:latin typeface="Arial"/>
              </a:rPr>
              <a:t>A RAG-Based Sustainable Living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542032"/>
            <a:ext cx="7498079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>
                <a:latin typeface="Arial"/>
              </a:rPr>
              <a:t>Built using IBM Cloud Lite, IBM watsonx.ai, IBM Granite Foundation Models, IBM watsonx Orchestrate and Retrieval-Augmented Generation (RAG)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60120" cy="658368"/>
          </a:xfrm>
          <a:prstGeom prst="rect">
            <a:avLst/>
          </a:prstGeom>
          <a:solidFill>
            <a:srgbClr val="003069"/>
          </a:solidFill>
          <a:ln>
            <a:solidFill>
              <a:srgbClr val="003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rPr>
                <a:latin typeface="Arial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47472"/>
            <a:ext cx="8823960" cy="32004"/>
          </a:xfrm>
          <a:prstGeom prst="rect">
            <a:avLst/>
          </a:prstGeom>
          <a:solidFill>
            <a:srgbClr val="0053A0"/>
          </a:solidFill>
          <a:ln>
            <a:solidFill>
              <a:srgbClr val="00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0" y="164592"/>
            <a:ext cx="12344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3000" b="1">
                <a:solidFill>
                  <a:srgbClr val="0053A0"/>
                </a:solidFill>
                <a:latin typeface="Arial"/>
              </a:defRPr>
            </a:pPr>
            <a:r>
              <a:rPr>
                <a:latin typeface="Arial"/>
              </a:rPr>
              <a:t>IBM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91440"/>
            <a:ext cx="18288" cy="502920"/>
          </a:xfrm>
          <a:prstGeom prst="rect">
            <a:avLst/>
          </a:prstGeom>
          <a:solidFill>
            <a:srgbClr val="828282"/>
          </a:solidFill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91440"/>
            <a:ext cx="100584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E7801C"/>
                </a:solidFill>
                <a:latin typeface="Arial"/>
              </a:defRPr>
            </a:pPr>
            <a:r>
              <a:rPr>
                <a:latin typeface="Arial"/>
              </a:rPr>
              <a:t>AICTE</a:t>
            </a:r>
            <a:br/>
            <a:r>
              <a:rPr>
                <a:latin typeface="Arial"/>
              </a:rPr>
              <a:t>INTERNSHIP</a:t>
            </a:r>
            <a:br/>
            <a:r>
              <a:rPr>
                <a:latin typeface="Arial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53312"/>
            <a:ext cx="265176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Project Title –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1353312"/>
            <a:ext cx="77724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800" b="1">
                <a:solidFill>
                  <a:srgbClr val="003069"/>
                </a:solidFill>
                <a:latin typeface="Arial"/>
              </a:defRPr>
            </a:pPr>
            <a:r>
              <a:rPr>
                <a:latin typeface="Arial"/>
              </a:rPr>
              <a:t>Eco Lifestyle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67128"/>
            <a:ext cx="32461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Domain of Project –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2167128"/>
            <a:ext cx="78638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400" b="1">
                <a:solidFill>
                  <a:srgbClr val="003069"/>
                </a:solidFill>
                <a:latin typeface="Arial"/>
              </a:defRPr>
            </a:pPr>
            <a:r>
              <a:rPr>
                <a:latin typeface="Arial"/>
              </a:rPr>
              <a:t>Environment / Sustainability / AI for Sustainability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77063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500" b="0">
                <a:solidFill>
                  <a:srgbClr val="003069"/>
                </a:solidFill>
                <a:latin typeface="Arial"/>
              </a:defRPr>
            </a:pPr>
            <a:r>
              <a:rPr>
                <a:latin typeface="Arial"/>
              </a:rPr>
              <a:t>College – Maharaja Agrasen Institute of Technology (MAIT)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172968"/>
            <a:ext cx="2514600" cy="786384"/>
          </a:xfrm>
          <a:prstGeom prst="rect">
            <a:avLst/>
          </a:prstGeom>
          <a:solidFill>
            <a:srgbClr val="0053A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rPr>
                <a:latin typeface="Arial"/>
              </a:rPr>
              <a:t>Student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959352"/>
            <a:ext cx="2514600" cy="2331720"/>
          </a:xfrm>
          <a:prstGeom prst="rect">
            <a:avLst/>
          </a:prstGeom>
          <a:solidFill>
            <a:srgbClr val="E8F2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919472"/>
            <a:ext cx="23317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Rishabh Bansal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3172968"/>
            <a:ext cx="2852928" cy="786384"/>
          </a:xfrm>
          <a:prstGeom prst="rect">
            <a:avLst/>
          </a:prstGeom>
          <a:solidFill>
            <a:srgbClr val="0053A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rPr>
                <a:latin typeface="Arial"/>
              </a:rPr>
              <a:t>Recent Passport</a:t>
            </a:r>
            <a:br/>
            <a:r>
              <a:rPr>
                <a:latin typeface="Arial"/>
              </a:rPr>
              <a:t>Photo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3959352"/>
            <a:ext cx="2852928" cy="2331720"/>
          </a:xfrm>
          <a:prstGeom prst="rect">
            <a:avLst/>
          </a:prstGeom>
          <a:solidFill>
            <a:srgbClr val="E8F2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70448" y="3172968"/>
            <a:ext cx="3182112" cy="786384"/>
          </a:xfrm>
          <a:prstGeom prst="rect">
            <a:avLst/>
          </a:prstGeom>
          <a:solidFill>
            <a:srgbClr val="0053A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rPr>
                <a:latin typeface="Arial"/>
              </a:rPr>
              <a:t>Email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70448" y="3959352"/>
            <a:ext cx="3182112" cy="2331720"/>
          </a:xfrm>
          <a:prstGeom prst="rect">
            <a:avLst/>
          </a:prstGeom>
          <a:solidFill>
            <a:srgbClr val="E8F2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1888" y="4919472"/>
            <a:ext cx="2999232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rishabhb2307@gmail.com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60" y="3172968"/>
            <a:ext cx="2560320" cy="786384"/>
          </a:xfrm>
          <a:prstGeom prst="rect">
            <a:avLst/>
          </a:prstGeom>
          <a:solidFill>
            <a:srgbClr val="0053A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rPr>
                <a:latin typeface="Arial"/>
              </a:rPr>
              <a:t>Mobile number</a:t>
            </a:r>
            <a:br/>
            <a:r>
              <a:rPr>
                <a:latin typeface="Arial"/>
              </a:rPr>
              <a:t>[WhatsApp]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3959352"/>
            <a:ext cx="2560320" cy="2331720"/>
          </a:xfrm>
          <a:prstGeom prst="rect">
            <a:avLst/>
          </a:prstGeom>
          <a:solidFill>
            <a:srgbClr val="E8F2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4919472"/>
            <a:ext cx="2377439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8595803248</a:t>
            </a:r>
          </a:p>
        </p:txBody>
      </p:sp>
      <p:pic>
        <p:nvPicPr>
          <p:cNvPr id="24" name="Picture 2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533" y="4123944"/>
            <a:ext cx="1888901" cy="201168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3499533" y="4123944"/>
            <a:ext cx="1888901" cy="201168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92240"/>
            <a:ext cx="914400" cy="365760"/>
          </a:xfrm>
          <a:prstGeom prst="rect">
            <a:avLst/>
          </a:prstGeom>
          <a:solidFill>
            <a:srgbClr val="003069"/>
          </a:solidFill>
          <a:ln>
            <a:solidFill>
              <a:srgbClr val="003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17320" y="6629400"/>
            <a:ext cx="9326880" cy="27432"/>
          </a:xfrm>
          <a:prstGeom prst="rect">
            <a:avLst/>
          </a:prstGeom>
          <a:solidFill>
            <a:srgbClr val="0053A0"/>
          </a:solidFill>
          <a:ln>
            <a:solidFill>
              <a:srgbClr val="00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2121408"/>
            <a:ext cx="114300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167128"/>
            <a:ext cx="35204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Domain of Project 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39" y="2167128"/>
            <a:ext cx="781812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400" b="1">
                <a:solidFill>
                  <a:srgbClr val="003069"/>
                </a:solidFill>
                <a:latin typeface="Arial"/>
              </a:defRPr>
            </a:pPr>
            <a:r>
              <a:rPr>
                <a:latin typeface="Arial"/>
              </a:rPr>
              <a:t>Environment / Sustainability / AI for Sustainability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277063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500" b="0">
                <a:solidFill>
                  <a:srgbClr val="003069"/>
                </a:solidFill>
                <a:latin typeface="Arial"/>
              </a:defRPr>
            </a:pPr>
            <a:r>
              <a:rPr>
                <a:latin typeface="Arial"/>
              </a:rPr>
              <a:t>College – Maharaja Agrasen Institute of Technology (MAIT)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2167128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Problem Statement: Eco Lifestyle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The challenge is fragmented, generic, and non-personalized sustainability information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900" b="1">
                <a:solidFill>
                  <a:srgbClr val="161616"/>
                </a:solidFill>
                <a:latin typeface="Arial"/>
              </a:rPr>
              <a:t>The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65960"/>
            <a:ext cx="5760720" cy="2377440"/>
          </a:xfrm>
          <a:prstGeom prst="rect">
            <a:avLst/>
          </a:prstGeom>
          <a:noFill/>
        </p:spPr>
        <p:txBody>
          <a:bodyPr wrap="square" lIns="18288" rIns="18288" tIns="18288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Reliable sustainability information is scattered across government portals, NGO resources, product websites and local service pages.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Existing search results are generic and do not adapt to user location, lifestyle, budget or habits.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Users struggle to find local recycling rules, eco-friendly alternatives and government schemes in one place.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A conversational AI assistant is needed to convert trusted environmental data into practical daily actions.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55448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900" b="1">
                <a:solidFill>
                  <a:srgbClr val="161616"/>
                </a:solidFill>
                <a:latin typeface="Arial"/>
              </a:rPr>
              <a:t>The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39128" y="1965960"/>
            <a:ext cx="4937760" cy="2377440"/>
          </a:xfrm>
          <a:prstGeom prst="rect">
            <a:avLst/>
          </a:prstGeom>
          <a:noFill/>
        </p:spPr>
        <p:txBody>
          <a:bodyPr wrap="square" lIns="18288" rIns="18288" tIns="18288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Build an AI-powered Eco Lifestyle Agent that answers natural language questions.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Use RAG to retrieve trusted environmental information before response generation.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Generate personalized, actionable recommendations using IBM Granite Foundation Models.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Deploy on IBM Cloud Lite using a scalable, enterprise-ready architecture.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92040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50" b="1">
                <a:solidFill>
                  <a:srgbClr val="0F62FE"/>
                </a:solidFill>
                <a:latin typeface="Arial"/>
              </a:rPr>
              <a:t>Example Questions the Agent Can Handle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5349240"/>
            <a:ext cx="5212080" cy="329184"/>
          </a:xfrm>
          <a:prstGeom prst="roundRect">
            <a:avLst/>
          </a:prstGeom>
          <a:solidFill>
            <a:srgbClr val="EDF2FF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F62FE"/>
                </a:solidFill>
                <a:latin typeface="Arial"/>
              </a:rPr>
              <a:t>How can I reduce plastic use at home?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5349240"/>
            <a:ext cx="5212080" cy="329184"/>
          </a:xfrm>
          <a:prstGeom prst="roundRect">
            <a:avLst/>
          </a:prstGeom>
          <a:solidFill>
            <a:srgbClr val="EDF2FF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24A148"/>
                </a:solidFill>
                <a:latin typeface="Arial"/>
              </a:rPr>
              <a:t>What are eco-friendly travel options in my city?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5852159"/>
            <a:ext cx="5212080" cy="329184"/>
          </a:xfrm>
          <a:prstGeom prst="roundRect">
            <a:avLst/>
          </a:prstGeom>
          <a:solidFill>
            <a:srgbClr val="EDF2FF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F62FE"/>
                </a:solidFill>
                <a:latin typeface="Arial"/>
              </a:rPr>
              <a:t>Where can I recycle e-waste?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5852159"/>
            <a:ext cx="5212080" cy="329184"/>
          </a:xfrm>
          <a:prstGeom prst="roundRect">
            <a:avLst/>
          </a:prstGeom>
          <a:solidFill>
            <a:srgbClr val="EDF2FF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24A148"/>
                </a:solidFill>
                <a:latin typeface="Arial"/>
              </a:rPr>
              <a:t>Which schemes support solar adoption?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2167128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PROPOSED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A RAG-powered, agentic sustainability assistant built on IBM Cloud and Granite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106424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50" b="0">
                <a:solidFill>
                  <a:srgbClr val="393939"/>
                </a:solidFill>
                <a:latin typeface="Arial"/>
              </a:rPr>
              <a:t>The Eco Lifestyle Agent combines trusted environmental knowledge with IBM Granite reasoning to deliver personalized, grounded sustainability guidance. The system retrieves relevant documents first, then generates a response using the retrieved context, reducing hallucinations and improving reliability.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606040"/>
            <a:ext cx="260604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606040"/>
            <a:ext cx="54864" cy="1207008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59" y="277063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80720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24A148"/>
                </a:solidFill>
                <a:latin typeface="Arial"/>
              </a:rPr>
              <a:t>KB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2743200"/>
            <a:ext cx="18105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Knowledge 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118104"/>
            <a:ext cx="2221992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Eco tips, recycling rules, government schemes, product guidance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38728" y="2606040"/>
            <a:ext cx="260604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38728" y="2606040"/>
            <a:ext cx="54864" cy="1207008"/>
          </a:xfrm>
          <a:prstGeom prst="rect">
            <a:avLst/>
          </a:prstGeom>
          <a:solidFill>
            <a:srgbClr val="007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03320" y="277063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3320" y="280720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007D79"/>
                </a:solidFill>
                <a:latin typeface="Arial"/>
              </a:rPr>
              <a:t>VR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7096" y="2743200"/>
            <a:ext cx="18105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Vector 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9896" y="3118104"/>
            <a:ext cx="2221992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Semantic search over FAISS/Chroma embeddings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19088" y="2606040"/>
            <a:ext cx="260604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19088" y="2606040"/>
            <a:ext cx="54864" cy="120700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83679" y="277063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79" y="280720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0F62FE"/>
                </a:solidFill>
                <a:latin typeface="Arial"/>
              </a:rPr>
              <a:t>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77455" y="2743200"/>
            <a:ext cx="18105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IBM Granite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5" y="3118104"/>
            <a:ext cx="2221992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Reasoning, summarization and response generation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99448" y="2606040"/>
            <a:ext cx="260604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99448" y="2606040"/>
            <a:ext cx="54864" cy="1207008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64040" y="277063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280720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8A3FFC"/>
                </a:solidFill>
                <a:latin typeface="Arial"/>
              </a:rPr>
              <a:t>UI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57816" y="2743200"/>
            <a:ext cx="1810511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Flask Interface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0616" y="3118104"/>
            <a:ext cx="2221992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Simple user-facing chat interface with REST APIs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0120" y="4800600"/>
            <a:ext cx="1600200" cy="502920"/>
          </a:xfrm>
          <a:prstGeom prst="roundRect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61616"/>
                </a:solidFill>
                <a:latin typeface="Arial"/>
              </a:rPr>
              <a:t>User Query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596896" y="5056632"/>
            <a:ext cx="438912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3072384" y="4800600"/>
            <a:ext cx="2057400" cy="502920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61616"/>
                </a:solidFill>
                <a:latin typeface="Arial"/>
              </a:rPr>
              <a:t>Retrieve Trusted Data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175504" y="5056632"/>
            <a:ext cx="457200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5669280" y="4800600"/>
            <a:ext cx="2148840" cy="502920"/>
          </a:xfrm>
          <a:prstGeom prst="roundRect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61616"/>
                </a:solidFill>
                <a:latin typeface="Arial"/>
              </a:rPr>
              <a:t>IBM Granite Generates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63840" y="5056632"/>
            <a:ext cx="457200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357616" y="4800600"/>
            <a:ext cx="2240280" cy="502920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61616"/>
                </a:solidFill>
                <a:latin typeface="Arial"/>
              </a:rPr>
              <a:t>Actionable Eco Advice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5669280"/>
            <a:ext cx="98755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50" b="1">
                <a:solidFill>
                  <a:srgbClr val="161616"/>
                </a:solidFill>
                <a:latin typeface="Arial"/>
              </a:rPr>
              <a:t>Expected Impact: Better awareness, easier sustainable choices, and faster access to trusted eco guidance.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1965960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TECHNOLOGY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Technology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Enterprise-grade tools aligned with IBM SkillsBuild project requirements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08760"/>
            <a:ext cx="3017520" cy="420624"/>
          </a:xfrm>
          <a:prstGeom prst="rect">
            <a:avLst/>
          </a:prstGeom>
          <a:solidFill>
            <a:srgbClr val="0F62F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618488"/>
            <a:ext cx="2871215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1508760"/>
            <a:ext cx="7863840" cy="420624"/>
          </a:xfrm>
          <a:prstGeom prst="rect">
            <a:avLst/>
          </a:prstGeom>
          <a:solidFill>
            <a:srgbClr val="0F62F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6472" y="1618488"/>
            <a:ext cx="7717536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Use in Eco Lifestyle Agent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929384"/>
            <a:ext cx="3017520" cy="420624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029967"/>
            <a:ext cx="2871215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1">
                <a:solidFill>
                  <a:srgbClr val="161616"/>
                </a:solidFill>
                <a:latin typeface="Arial"/>
              </a:rPr>
              <a:t>IBM watsonx Orchestrate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1929384"/>
            <a:ext cx="7863840" cy="420624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6472" y="2029967"/>
            <a:ext cx="7717536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>
                <a:latin typeface="Arial"/>
              </a:rPr>
              <a:t>Visual orchestration of the RAG workflow using connected input, retrieval, model and output components.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350008"/>
            <a:ext cx="30175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50591"/>
            <a:ext cx="2871215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1">
                <a:solidFill>
                  <a:srgbClr val="161616"/>
                </a:solidFill>
                <a:latin typeface="Arial"/>
              </a:rPr>
              <a:t>IBM Granite Foundation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2350008"/>
            <a:ext cx="78638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6472" y="2450591"/>
            <a:ext cx="7717536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0">
                <a:solidFill>
                  <a:srgbClr val="393939"/>
                </a:solidFill>
                <a:latin typeface="Arial"/>
              </a:rPr>
              <a:t>Natural language understanding, reasoning, summarization and personalized answer generation.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2770632"/>
            <a:ext cx="3017520" cy="420624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2871216"/>
            <a:ext cx="2871215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1">
                <a:solidFill>
                  <a:srgbClr val="161616"/>
                </a:solidFill>
                <a:latin typeface="Arial"/>
              </a:rPr>
              <a:t>IBM watsonx.ai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2770632"/>
            <a:ext cx="7863840" cy="420624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76472" y="2871216"/>
            <a:ext cx="7717536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>
                <a:latin typeface="Arial"/>
              </a:rPr>
              <a:t>IBM AI platform for accessing Granite foundation models, experimentation and governance-ready AI workflows.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191256"/>
            <a:ext cx="30175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3291840"/>
            <a:ext cx="2871215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1">
                <a:solidFill>
                  <a:srgbClr val="161616"/>
                </a:solidFill>
                <a:latin typeface="Arial"/>
              </a:rPr>
              <a:t>IBM Cloud Lite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03320" y="3191256"/>
            <a:ext cx="78638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76472" y="3291840"/>
            <a:ext cx="7717536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0">
                <a:solidFill>
                  <a:srgbClr val="393939"/>
                </a:solidFill>
                <a:latin typeface="Arial"/>
              </a:rPr>
              <a:t>Cloud infrastructure for hosting, services, storage and scalable deployment.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611880"/>
            <a:ext cx="3017520" cy="420624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3712464"/>
            <a:ext cx="2871215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1">
                <a:solidFill>
                  <a:srgbClr val="161616"/>
                </a:solidFill>
                <a:latin typeface="Arial"/>
              </a:rPr>
              <a:t>RAG Pipeline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03320" y="3611880"/>
            <a:ext cx="7863840" cy="420624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76472" y="3712464"/>
            <a:ext cx="7717536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0">
                <a:solidFill>
                  <a:srgbClr val="393939"/>
                </a:solidFill>
                <a:latin typeface="Arial"/>
              </a:rPr>
              <a:t>Retrieves verified environmental data first, then generates grounded responses.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032504"/>
            <a:ext cx="30175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952" y="4133088"/>
            <a:ext cx="2871215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1">
                <a:solidFill>
                  <a:srgbClr val="161616"/>
                </a:solidFill>
                <a:latin typeface="Arial"/>
              </a:rPr>
              <a:t>Vector Database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03320" y="4032504"/>
            <a:ext cx="78638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76472" y="4133088"/>
            <a:ext cx="7717536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0">
                <a:solidFill>
                  <a:srgbClr val="393939"/>
                </a:solidFill>
                <a:latin typeface="Arial"/>
              </a:rPr>
              <a:t>FAISS/Chroma for embedding storage and semantic similarity search.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4453128"/>
            <a:ext cx="3017520" cy="420624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8952" y="4553712"/>
            <a:ext cx="2871215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1">
                <a:solidFill>
                  <a:srgbClr val="161616"/>
                </a:solidFill>
                <a:latin typeface="Arial"/>
              </a:rPr>
              <a:t>Python + Flask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03320" y="4453128"/>
            <a:ext cx="7863840" cy="420624"/>
          </a:xfrm>
          <a:prstGeom prst="rect">
            <a:avLst/>
          </a:prstGeom>
          <a:solidFill>
            <a:srgbClr val="F4F4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76472" y="4553712"/>
            <a:ext cx="7717536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0">
                <a:solidFill>
                  <a:srgbClr val="393939"/>
                </a:solidFill>
                <a:latin typeface="Arial"/>
              </a:rPr>
              <a:t>Backend application layer and lightweight chat interface.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4873752"/>
            <a:ext cx="30175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8952" y="4974336"/>
            <a:ext cx="2871215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1">
                <a:solidFill>
                  <a:srgbClr val="161616"/>
                </a:solidFill>
                <a:latin typeface="Arial"/>
              </a:rPr>
              <a:t>REST APIs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03320" y="4873752"/>
            <a:ext cx="78638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76472" y="4974336"/>
            <a:ext cx="7717536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80" b="0">
                <a:solidFill>
                  <a:srgbClr val="393939"/>
                </a:solidFill>
                <a:latin typeface="Arial"/>
              </a:rPr>
              <a:t>Integration layer connecting UI, retrieval logic and model response generation.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2368296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ORCHESTRATION COMPONENTS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watsonx Orchestrate Components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Reusable visual building blocks for the Eco Lifestyle Agent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51206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4864" cy="84124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554480"/>
            <a:ext cx="47823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1) Chat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929384"/>
            <a:ext cx="473659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Collects user questions such as plastic reduction, green travel or recycling help.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1206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864" cy="841248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7" y="1554480"/>
            <a:ext cx="47823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2) File / Document Loader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7" y="1929384"/>
            <a:ext cx="473659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Loads environmental documents, sustainability guides and scheme information.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496312"/>
            <a:ext cx="51206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496312"/>
            <a:ext cx="54864" cy="84124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633472"/>
            <a:ext cx="47823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3) Text Splitter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008376"/>
            <a:ext cx="473659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Breaks long documents into smaller chunks for retrieval.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496312"/>
            <a:ext cx="51206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2496312"/>
            <a:ext cx="54864" cy="841248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4807" y="2633472"/>
            <a:ext cx="47823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4) Embedding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7" y="3008376"/>
            <a:ext cx="473659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Converts text chunks and user queries into vector representations.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575304"/>
            <a:ext cx="51206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575304"/>
            <a:ext cx="54864" cy="84124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712464"/>
            <a:ext cx="47823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5) Vector Store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087368"/>
            <a:ext cx="473659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Stores embeddings in FAISS/Chroma for semantic search.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3575304"/>
            <a:ext cx="51206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3575304"/>
            <a:ext cx="54864" cy="841248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64807" y="3712464"/>
            <a:ext cx="47823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6) Retriever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4807" y="4087368"/>
            <a:ext cx="473659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Fetches the most relevant chunks for the current user query.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654296"/>
            <a:ext cx="51206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" y="4654296"/>
            <a:ext cx="54864" cy="84124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791456"/>
            <a:ext cx="47823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7) IBM watsonx AI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" y="5166360"/>
            <a:ext cx="473659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Uses IBM Granite to reason over retrieved context and generate the final answer.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4654296"/>
            <a:ext cx="51206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63640" y="4654296"/>
            <a:ext cx="54864" cy="841248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64807" y="4791456"/>
            <a:ext cx="47823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8) Chat Output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4807" y="5166360"/>
            <a:ext cx="473659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Displays grounded, actionable sustainability guidance to the user.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2167128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IMPLEMENTATION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watsonx Orchestrate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Visual orchestration of the Eco Lifestyle Agent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508760" cy="566928"/>
          </a:xfrm>
          <a:prstGeom prst="roundRect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Chat Input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14600" y="1828800"/>
            <a:ext cx="1508760" cy="566928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Prompt Template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097280"/>
            <a:ext cx="1508760" cy="566928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Document Loader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097280"/>
            <a:ext cx="1508760" cy="566928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Text Splitter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097280"/>
            <a:ext cx="1508760" cy="566928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Embeddings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1097280"/>
            <a:ext cx="1508760" cy="566928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Vector DB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834640"/>
            <a:ext cx="1508760" cy="566928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Retriever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834640"/>
            <a:ext cx="1874519" cy="566928"/>
          </a:xfrm>
          <a:prstGeom prst="roundRect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IBM watsonx AI Agent</a:t>
            </a:r>
            <a:br/>
            <a:r>
              <a:rPr sz="930" b="1">
                <a:solidFill>
                  <a:srgbClr val="161616"/>
                </a:solidFill>
                <a:latin typeface="Arial"/>
              </a:rPr>
              <a:t>(Granite)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2834640"/>
            <a:ext cx="1508760" cy="566928"/>
          </a:xfrm>
          <a:prstGeom prst="roundRect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30" b="1">
                <a:solidFill>
                  <a:srgbClr val="161616"/>
                </a:solidFill>
                <a:latin typeface="Arial"/>
              </a:rPr>
              <a:t>Chat Output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94560" y="2112264"/>
            <a:ext cx="292608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023360" y="2112264"/>
            <a:ext cx="292608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852160" y="1380744"/>
            <a:ext cx="292608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680960" y="1380744"/>
            <a:ext cx="292608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509760" y="1380744"/>
            <a:ext cx="292608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5074920" y="1691640"/>
            <a:ext cx="5486400" cy="1097280"/>
          </a:xfrm>
          <a:prstGeom prst="line">
            <a:avLst/>
          </a:prstGeom>
          <a:ln w="19050">
            <a:solidFill>
              <a:srgbClr val="24A1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870448" y="3118104"/>
            <a:ext cx="457200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275320" y="3118104"/>
            <a:ext cx="429768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22960" y="4754880"/>
            <a:ext cx="3200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61616"/>
                </a:solidFill>
                <a:latin typeface="Arial"/>
              </a:rPr>
              <a:t>Workflow Explanation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02352"/>
            <a:ext cx="10332720" cy="868680"/>
          </a:xfrm>
          <a:prstGeom prst="rect">
            <a:avLst/>
          </a:prstGeom>
          <a:noFill/>
        </p:spPr>
        <p:txBody>
          <a:bodyPr wrap="square" lIns="18288" rIns="18288" tIns="18288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280">
                <a:solidFill>
                  <a:srgbClr val="393939"/>
                </a:solidFill>
                <a:latin typeface="Arial"/>
              </a:rPr>
              <a:t>IBM watsonx Orchestrate provides a low-code pipeline that connects input, retrieval, reasoning and output components.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280">
                <a:solidFill>
                  <a:srgbClr val="393939"/>
                </a:solidFill>
                <a:latin typeface="Arial"/>
              </a:rPr>
              <a:t>The workflow keeps the system modular, transparent and easier to debug during development.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280">
                <a:solidFill>
                  <a:srgbClr val="393939"/>
                </a:solidFill>
                <a:latin typeface="Arial"/>
              </a:rPr>
              <a:t>IBM Granite generates the final response only after relevant environmental context is retrieved.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2670048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ARCHITECTURE BLUEPRINT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Architecture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End-to-end architecture for the Eco Lifestyle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61288"/>
            <a:ext cx="18288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0F62FE"/>
                </a:solidFill>
                <a:latin typeface="Arial"/>
              </a:rPr>
              <a:t>User Layer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08760"/>
            <a:ext cx="1828800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61616"/>
                </a:solidFill>
                <a:latin typeface="Arial"/>
              </a:rPr>
              <a:t>User / Browser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1161288"/>
            <a:ext cx="18288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007D79"/>
                </a:solidFill>
                <a:latin typeface="Arial"/>
              </a:rPr>
              <a:t>Application Layer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1508760"/>
            <a:ext cx="1828800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61616"/>
                </a:solidFill>
                <a:latin typeface="Arial"/>
              </a:rPr>
              <a:t>Flask Web UI</a:t>
            </a:r>
            <a:br/>
            <a:r>
              <a:rPr sz="1000" b="1">
                <a:solidFill>
                  <a:srgbClr val="161616"/>
                </a:solidFill>
                <a:latin typeface="Arial"/>
              </a:rPr>
              <a:t>+ REST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1161288"/>
            <a:ext cx="18288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0F62FE"/>
                </a:solidFill>
                <a:latin typeface="Arial"/>
              </a:rPr>
              <a:t>AI Layer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83480" y="1508760"/>
            <a:ext cx="1828800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61616"/>
                </a:solidFill>
                <a:latin typeface="Arial"/>
              </a:rPr>
              <a:t>watsonx.ai</a:t>
            </a:r>
            <a:br/>
            <a:r>
              <a:rPr sz="1000" b="1">
                <a:solidFill>
                  <a:srgbClr val="161616"/>
                </a:solidFill>
                <a:latin typeface="Arial"/>
              </a:rPr>
              <a:t>IBM Granite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161288"/>
            <a:ext cx="192024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24A148"/>
                </a:solidFill>
                <a:latin typeface="Arial"/>
              </a:rPr>
              <a:t>Retrieval Layer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508760"/>
            <a:ext cx="1920240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61616"/>
                </a:solidFill>
                <a:latin typeface="Arial"/>
              </a:rPr>
              <a:t>RAG Retriever</a:t>
            </a:r>
            <a:br/>
            <a:r>
              <a:rPr sz="1000" b="1">
                <a:solidFill>
                  <a:srgbClr val="161616"/>
                </a:solidFill>
                <a:latin typeface="Arial"/>
              </a:rPr>
              <a:t>FAISS / Chroma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1161288"/>
            <a:ext cx="201168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8A3FFC"/>
                </a:solidFill>
                <a:latin typeface="Arial"/>
              </a:rPr>
              <a:t>Data Layer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72600" y="1508760"/>
            <a:ext cx="2011680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61616"/>
                </a:solidFill>
                <a:latin typeface="Arial"/>
              </a:rPr>
              <a:t>Eco Knowledge Base</a:t>
            </a:r>
            <a:br/>
            <a:r>
              <a:rPr sz="1000" b="1">
                <a:solidFill>
                  <a:srgbClr val="161616"/>
                </a:solidFill>
                <a:latin typeface="Arial"/>
              </a:rPr>
              <a:t>COS Documents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14600" y="1783080"/>
            <a:ext cx="320040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3440" y="1783080"/>
            <a:ext cx="320040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812280" y="1783080"/>
            <a:ext cx="320040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52560" y="1783080"/>
            <a:ext cx="320040" cy="0"/>
          </a:xfrm>
          <a:prstGeom prst="line">
            <a:avLst/>
          </a:prstGeom>
          <a:ln w="2286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189720" y="2743200"/>
            <a:ext cx="2377440" cy="420624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161616"/>
                </a:solidFill>
                <a:latin typeface="Arial"/>
              </a:rPr>
              <a:t>Recycling Guidelines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0012680" y="2093976"/>
            <a:ext cx="0" cy="649224"/>
          </a:xfrm>
          <a:prstGeom prst="line">
            <a:avLst/>
          </a:prstGeom>
          <a:ln w="13970">
            <a:solidFill>
              <a:srgbClr val="24A1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189720" y="3429000"/>
            <a:ext cx="2377440" cy="420624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161616"/>
                </a:solidFill>
                <a:latin typeface="Arial"/>
              </a:rPr>
              <a:t>Govt. Schemes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10012680" y="2093976"/>
            <a:ext cx="0" cy="1335024"/>
          </a:xfrm>
          <a:prstGeom prst="line">
            <a:avLst/>
          </a:prstGeom>
          <a:ln w="13970">
            <a:solidFill>
              <a:srgbClr val="24A1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189720" y="4114800"/>
            <a:ext cx="2377440" cy="420624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161616"/>
                </a:solidFill>
                <a:latin typeface="Arial"/>
              </a:rPr>
              <a:t>Eco Product Data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10012680" y="2093976"/>
            <a:ext cx="0" cy="2020824"/>
          </a:xfrm>
          <a:prstGeom prst="line">
            <a:avLst/>
          </a:prstGeom>
          <a:ln w="13970">
            <a:solidFill>
              <a:srgbClr val="24A1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189720" y="4800600"/>
            <a:ext cx="2377440" cy="420624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161616"/>
                </a:solidFill>
                <a:latin typeface="Arial"/>
              </a:rPr>
              <a:t>Energy &amp; Water Tips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10012680" y="2093976"/>
            <a:ext cx="0" cy="2706624"/>
          </a:xfrm>
          <a:prstGeom prst="line">
            <a:avLst/>
          </a:prstGeom>
          <a:ln w="13970">
            <a:solidFill>
              <a:srgbClr val="24A1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85800" y="2971800"/>
            <a:ext cx="3657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5800" y="2971800"/>
            <a:ext cx="54864" cy="100584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" y="3108960"/>
            <a:ext cx="331927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Grounded Answering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3483864"/>
            <a:ext cx="3273552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RAG retrieves trusted documents so Granite can generate responses anchored in verified context.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17720" y="2971800"/>
            <a:ext cx="3657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17720" y="2971800"/>
            <a:ext cx="54864" cy="100584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18888" y="3108960"/>
            <a:ext cx="331927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Personalization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18888" y="3483864"/>
            <a:ext cx="3273552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User context such as city, habit, goal or lifestyle preference improves recommendation quality.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4389120"/>
            <a:ext cx="3657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4389120"/>
            <a:ext cx="54864" cy="1005840"/>
          </a:xfrm>
          <a:prstGeom prst="rect">
            <a:avLst/>
          </a:prstGeom>
          <a:solidFill>
            <a:srgbClr val="007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6968" y="4526280"/>
            <a:ext cx="331927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Scalable Deployment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4901183"/>
            <a:ext cx="3273552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IBM Cloud Lite supports development, testing and service-based deployment for the assistant.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17720" y="4389120"/>
            <a:ext cx="3657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17720" y="4389120"/>
            <a:ext cx="54864" cy="1005840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18888" y="4526280"/>
            <a:ext cx="331927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Explainability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4901183"/>
            <a:ext cx="3273552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The system can cite retrieved knowledge sources and show why a suggestion was recommended.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1463040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AGENTIC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Role of Agentic AI in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How the assistant behaves as a goal-driven AI system rather than a simple chatbot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60320" y="1737360"/>
            <a:ext cx="1371600" cy="640080"/>
          </a:xfrm>
          <a:prstGeom prst="ellipse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06039" y="1847088"/>
            <a:ext cx="12801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80" b="1">
                <a:solidFill>
                  <a:srgbClr val="161616"/>
                </a:solidFill>
                <a:latin typeface="Arial"/>
              </a:rPr>
              <a:t>1. Planning</a:t>
            </a:r>
            <a:br/>
            <a:r>
              <a:rPr sz="780" b="1">
                <a:solidFill>
                  <a:srgbClr val="161616"/>
                </a:solidFill>
                <a:latin typeface="Arial"/>
              </a:rPr>
              <a:t>Understand user goal</a:t>
            </a:r>
          </a:p>
        </p:txBody>
      </p:sp>
      <p:sp>
        <p:nvSpPr>
          <p:cNvPr id="8" name="Oval 7"/>
          <p:cNvSpPr/>
          <p:nvPr/>
        </p:nvSpPr>
        <p:spPr>
          <a:xfrm>
            <a:off x="4183701" y="2446020"/>
            <a:ext cx="1371600" cy="640080"/>
          </a:xfrm>
          <a:prstGeom prst="ellipse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29421" y="2555748"/>
            <a:ext cx="12801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80" b="1">
                <a:solidFill>
                  <a:srgbClr val="161616"/>
                </a:solidFill>
                <a:latin typeface="Arial"/>
              </a:rPr>
              <a:t>2. Retrieval</a:t>
            </a:r>
            <a:br/>
            <a:r>
              <a:rPr sz="780" b="1">
                <a:solidFill>
                  <a:srgbClr val="161616"/>
                </a:solidFill>
                <a:latin typeface="Arial"/>
              </a:rPr>
              <a:t>Search trusted data</a:t>
            </a:r>
          </a:p>
        </p:txBody>
      </p:sp>
      <p:sp>
        <p:nvSpPr>
          <p:cNvPr id="10" name="Oval 9"/>
          <p:cNvSpPr/>
          <p:nvPr/>
        </p:nvSpPr>
        <p:spPr>
          <a:xfrm>
            <a:off x="4183701" y="3863339"/>
            <a:ext cx="1371600" cy="640080"/>
          </a:xfrm>
          <a:prstGeom prst="ellipse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29421" y="3973068"/>
            <a:ext cx="12801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80" b="1">
                <a:solidFill>
                  <a:srgbClr val="161616"/>
                </a:solidFill>
                <a:latin typeface="Arial"/>
              </a:rPr>
              <a:t>3. Reasoning</a:t>
            </a:r>
            <a:br/>
            <a:r>
              <a:rPr sz="780" b="1">
                <a:solidFill>
                  <a:srgbClr val="161616"/>
                </a:solidFill>
                <a:latin typeface="Arial"/>
              </a:rPr>
              <a:t>Apply Granite logic</a:t>
            </a:r>
          </a:p>
        </p:txBody>
      </p:sp>
      <p:sp>
        <p:nvSpPr>
          <p:cNvPr id="12" name="Oval 11"/>
          <p:cNvSpPr/>
          <p:nvPr/>
        </p:nvSpPr>
        <p:spPr>
          <a:xfrm>
            <a:off x="2560320" y="4572000"/>
            <a:ext cx="1371600" cy="640080"/>
          </a:xfrm>
          <a:prstGeom prst="ellipse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39" y="4681728"/>
            <a:ext cx="12801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80" b="1">
                <a:solidFill>
                  <a:srgbClr val="161616"/>
                </a:solidFill>
                <a:latin typeface="Arial"/>
              </a:rPr>
              <a:t>4. Decision</a:t>
            </a:r>
            <a:br/>
            <a:r>
              <a:rPr sz="780" b="1">
                <a:solidFill>
                  <a:srgbClr val="161616"/>
                </a:solidFill>
                <a:latin typeface="Arial"/>
              </a:rPr>
              <a:t>Select best action</a:t>
            </a:r>
          </a:p>
        </p:txBody>
      </p:sp>
      <p:sp>
        <p:nvSpPr>
          <p:cNvPr id="14" name="Oval 13"/>
          <p:cNvSpPr/>
          <p:nvPr/>
        </p:nvSpPr>
        <p:spPr>
          <a:xfrm>
            <a:off x="936938" y="3863340"/>
            <a:ext cx="1371600" cy="640080"/>
          </a:xfrm>
          <a:prstGeom prst="ellipse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2658" y="3973068"/>
            <a:ext cx="12801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80" b="1">
                <a:solidFill>
                  <a:srgbClr val="161616"/>
                </a:solidFill>
                <a:latin typeface="Arial"/>
              </a:rPr>
              <a:t>5. Personalization</a:t>
            </a:r>
            <a:br/>
            <a:r>
              <a:rPr sz="780" b="1">
                <a:solidFill>
                  <a:srgbClr val="161616"/>
                </a:solidFill>
                <a:latin typeface="Arial"/>
              </a:rPr>
              <a:t>Adapt to context</a:t>
            </a:r>
          </a:p>
        </p:txBody>
      </p:sp>
      <p:sp>
        <p:nvSpPr>
          <p:cNvPr id="16" name="Oval 15"/>
          <p:cNvSpPr/>
          <p:nvPr/>
        </p:nvSpPr>
        <p:spPr>
          <a:xfrm>
            <a:off x="936938" y="2446019"/>
            <a:ext cx="1371600" cy="640080"/>
          </a:xfrm>
          <a:prstGeom prst="ellipse">
            <a:avLst/>
          </a:prstGeom>
          <a:solidFill>
            <a:srgbClr val="EDF2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658" y="2555747"/>
            <a:ext cx="12801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80" b="1">
                <a:solidFill>
                  <a:srgbClr val="161616"/>
                </a:solidFill>
                <a:latin typeface="Arial"/>
              </a:rPr>
              <a:t>6. Response</a:t>
            </a:r>
            <a:br/>
            <a:r>
              <a:rPr sz="780" b="1">
                <a:solidFill>
                  <a:srgbClr val="161616"/>
                </a:solidFill>
                <a:latin typeface="Arial"/>
              </a:rPr>
              <a:t>Deliver guidance</a:t>
            </a:r>
          </a:p>
        </p:txBody>
      </p:sp>
      <p:sp>
        <p:nvSpPr>
          <p:cNvPr id="18" name="Oval 17"/>
          <p:cNvSpPr/>
          <p:nvPr/>
        </p:nvSpPr>
        <p:spPr>
          <a:xfrm>
            <a:off x="2514600" y="3063239"/>
            <a:ext cx="1463040" cy="822960"/>
          </a:xfrm>
          <a:prstGeom prst="ellipse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4639" y="3273551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Eco</a:t>
            </a:r>
            <a:br/>
            <a:r>
              <a:rPr sz="1200" b="1">
                <a:solidFill>
                  <a:srgbClr val="FFFFFF"/>
                </a:solidFill>
                <a:latin typeface="Arial"/>
              </a:rPr>
              <a:t>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508760"/>
            <a:ext cx="516636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>
                <a:solidFill>
                  <a:srgbClr val="393939"/>
                </a:solidFill>
                <a:latin typeface="Arial"/>
              </a:rPr>
              <a:t>Agentic AI enables the Eco Lifestyle Agent to autonomously plan, retrieve information, reason over context, decide the most useful recommendation, and adapt the answer to user needs.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2514600"/>
            <a:ext cx="4846320" cy="2194560"/>
          </a:xfrm>
          <a:prstGeom prst="rect">
            <a:avLst/>
          </a:prstGeom>
          <a:noFill/>
        </p:spPr>
        <p:txBody>
          <a:bodyPr wrap="square" lIns="18288" rIns="18288" tIns="18288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Acts as an intelligent assistant, not only a static FAQ bot.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Coordinates retrieval, reasoning and response generation as a multi-step workflow.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Improves relevance by considering the user’s intent, location and sustainability goal.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400">
                <a:solidFill>
                  <a:srgbClr val="393939"/>
                </a:solidFill>
                <a:latin typeface="Arial"/>
              </a:rPr>
              <a:t>Supports continuous improvement through feedback and knowledge base updates.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5166360"/>
            <a:ext cx="466344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5166360"/>
            <a:ext cx="54864" cy="82296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5303520"/>
            <a:ext cx="432511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Outcome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5678424"/>
            <a:ext cx="427939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A proactive, context-aware and goal-driven digital sustainability advisor.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1664208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RAG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RAG Workflow &amp; 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How retrieval improves accuracy and converts questions into grounded answers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737360"/>
            <a:ext cx="1188720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80" b="1">
                <a:solidFill>
                  <a:srgbClr val="161616"/>
                </a:solidFill>
                <a:latin typeface="Arial"/>
              </a:rPr>
              <a:t>User Query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40280" y="1737360"/>
            <a:ext cx="1188720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80" b="1">
                <a:solidFill>
                  <a:srgbClr val="161616"/>
                </a:solidFill>
                <a:latin typeface="Arial"/>
              </a:rPr>
              <a:t>Embedding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1737360"/>
            <a:ext cx="1188720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80" b="1">
                <a:solidFill>
                  <a:srgbClr val="161616"/>
                </a:solidFill>
                <a:latin typeface="Arial"/>
              </a:rPr>
              <a:t>Vector Search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9240" y="1737360"/>
            <a:ext cx="1188720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80" b="1">
                <a:solidFill>
                  <a:srgbClr val="161616"/>
                </a:solidFill>
                <a:latin typeface="Arial"/>
              </a:rPr>
              <a:t>Context Docs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737360"/>
            <a:ext cx="1188720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80" b="1">
                <a:solidFill>
                  <a:srgbClr val="161616"/>
                </a:solidFill>
                <a:latin typeface="Arial"/>
              </a:rPr>
              <a:t>Prompt Build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1737360"/>
            <a:ext cx="1188720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80" b="1">
                <a:solidFill>
                  <a:srgbClr val="161616"/>
                </a:solidFill>
                <a:latin typeface="Arial"/>
              </a:rPr>
              <a:t>Granite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1737360"/>
            <a:ext cx="1188720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80" b="1">
                <a:solidFill>
                  <a:srgbClr val="161616"/>
                </a:solidFill>
                <a:latin typeface="Arial"/>
              </a:rPr>
              <a:t>Response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74519" y="2002536"/>
            <a:ext cx="365761" cy="0"/>
          </a:xfrm>
          <a:prstGeom prst="line">
            <a:avLst/>
          </a:prstGeom>
          <a:ln w="1651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429000" y="2002536"/>
            <a:ext cx="365760" cy="0"/>
          </a:xfrm>
          <a:prstGeom prst="line">
            <a:avLst/>
          </a:prstGeom>
          <a:ln w="1651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983480" y="2002536"/>
            <a:ext cx="365760" cy="0"/>
          </a:xfrm>
          <a:prstGeom prst="line">
            <a:avLst/>
          </a:prstGeom>
          <a:ln w="1651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537959" y="2002536"/>
            <a:ext cx="365761" cy="0"/>
          </a:xfrm>
          <a:prstGeom prst="line">
            <a:avLst/>
          </a:prstGeom>
          <a:ln w="1651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92440" y="2002536"/>
            <a:ext cx="365760" cy="0"/>
          </a:xfrm>
          <a:prstGeom prst="line">
            <a:avLst/>
          </a:prstGeom>
          <a:ln w="1651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646920" y="2002536"/>
            <a:ext cx="365760" cy="0"/>
          </a:xfrm>
          <a:prstGeom prst="line">
            <a:avLst/>
          </a:prstGeom>
          <a:ln w="16510">
            <a:solidFill>
              <a:srgbClr val="0F6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2880360"/>
            <a:ext cx="3200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61616"/>
                </a:solidFill>
                <a:latin typeface="Arial"/>
              </a:rPr>
              <a:t>Prompt Strategy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246120"/>
            <a:ext cx="3383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246120"/>
            <a:ext cx="54864" cy="96012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3383279"/>
            <a:ext cx="304495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System Instruction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758183"/>
            <a:ext cx="2999232" cy="3931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Act as an eco lifestyle advisor. Use retrieved context only and avoid unsupported claims.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3246120"/>
            <a:ext cx="3383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34840" y="3246120"/>
            <a:ext cx="54864" cy="9601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36007" y="3383279"/>
            <a:ext cx="304495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Retrieved Context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6007" y="3758183"/>
            <a:ext cx="2999232" cy="3931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Relevant chunks from recycling rules, sustainability guides and scheme documents.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246120"/>
            <a:ext cx="3383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8160" y="3246120"/>
            <a:ext cx="54864" cy="960120"/>
          </a:xfrm>
          <a:prstGeom prst="rect">
            <a:avLst/>
          </a:prstGeom>
          <a:solidFill>
            <a:srgbClr val="007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9328" y="3383279"/>
            <a:ext cx="3044951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Output Format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9328" y="3758183"/>
            <a:ext cx="2999232" cy="3931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Actionable steps, local considerations, safety notes and optional follow-up questions.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754880"/>
            <a:ext cx="1828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61616"/>
                </a:solidFill>
                <a:latin typeface="Arial"/>
              </a:rPr>
              <a:t>Why RAG?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102352"/>
            <a:ext cx="10515600" cy="868680"/>
          </a:xfrm>
          <a:prstGeom prst="rect">
            <a:avLst/>
          </a:prstGeom>
          <a:noFill/>
        </p:spPr>
        <p:txBody>
          <a:bodyPr wrap="square" lIns="18288" rIns="18288" tIns="18288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300">
                <a:solidFill>
                  <a:srgbClr val="393939"/>
                </a:solidFill>
                <a:latin typeface="Arial"/>
              </a:rPr>
              <a:t>Reduces hallucinations by grounding responses in retrieved documents.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300">
                <a:solidFill>
                  <a:srgbClr val="393939"/>
                </a:solidFill>
                <a:latin typeface="Arial"/>
              </a:rPr>
              <a:t>Allows updates without retraining the foundation model.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300">
                <a:solidFill>
                  <a:srgbClr val="393939"/>
                </a:solidFill>
                <a:latin typeface="Arial"/>
              </a:rPr>
              <a:t>Supports domain-specific knowledge such as recycling rules and schemes.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300">
                <a:solidFill>
                  <a:srgbClr val="393939"/>
                </a:solidFill>
                <a:latin typeface="Arial"/>
              </a:rPr>
              <a:t>Improves transparency because retrieved evidence can be shown to the user.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56032"/>
            <a:ext cx="1143000" cy="310896"/>
          </a:xfrm>
          <a:prstGeom prst="roundRect">
            <a:avLst/>
          </a:prstGeom>
          <a:solidFill>
            <a:srgbClr val="EBF3FF"/>
          </a:solidFill>
          <a:ln>
            <a:solidFill>
              <a:srgbClr val="A6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TOKEN USAGE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05156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000" b="1">
                <a:solidFill>
                  <a:srgbClr val="161616"/>
                </a:solidFill>
                <a:latin typeface="Arial"/>
              </a:rPr>
              <a:t>Token Usage &amp; Prompt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234440"/>
            <a:ext cx="102412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0">
                <a:solidFill>
                  <a:srgbClr val="525252"/>
                </a:solidFill>
                <a:latin typeface="Arial"/>
              </a:rPr>
              <a:t>How the prompt was structured to control cost, improve clarity and keep answers grounded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1088136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6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200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650" b="0">
                <a:solidFill>
                  <a:srgbClr val="8D8D8D"/>
                </a:solidFill>
                <a:latin typeface="Arial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48920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54864" cy="105156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975104"/>
            <a:ext cx="4599431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1">
                <a:solidFill>
                  <a:srgbClr val="161616"/>
                </a:solidFill>
                <a:latin typeface="Arial"/>
              </a:rPr>
              <a:t>Before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304288"/>
            <a:ext cx="4599431" cy="48463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0">
                <a:solidFill>
                  <a:srgbClr val="525252"/>
                </a:solidFill>
                <a:latin typeface="Arial"/>
              </a:rPr>
              <a:t>“Give me eco tips for daily life.”</a:t>
            </a:r>
            <a:br/>
            <a:r>
              <a:rPr sz="1100" b="0">
                <a:solidFill>
                  <a:srgbClr val="525252"/>
                </a:solidFill>
                <a:latin typeface="Arial"/>
              </a:rPr>
              <a:t>Problem: broad, generic, no retrieved context, no output format.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828800"/>
            <a:ext cx="48920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828800"/>
            <a:ext cx="54864" cy="105156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1975104"/>
            <a:ext cx="4599431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1">
                <a:solidFill>
                  <a:srgbClr val="161616"/>
                </a:solidFill>
                <a:latin typeface="Arial"/>
              </a:rPr>
              <a:t>After Prompt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2304288"/>
            <a:ext cx="4599431" cy="48463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0">
                <a:solidFill>
                  <a:srgbClr val="525252"/>
                </a:solidFill>
                <a:latin typeface="Arial"/>
              </a:rPr>
              <a:t>“Act as an Eco Lifestyle Agent. Use retrieved environmental context to provide 5 practical actions. Avoid unsupported claims.”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383280"/>
            <a:ext cx="25603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3383280"/>
            <a:ext cx="54864" cy="13258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3529584"/>
            <a:ext cx="22677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Prompt Inputs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3858768"/>
            <a:ext cx="2267712" cy="758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0">
                <a:solidFill>
                  <a:srgbClr val="525252"/>
                </a:solidFill>
                <a:latin typeface="Arial"/>
              </a:rPr>
              <a:t>User query + retrieved chunks + concise system instruction.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3383280"/>
            <a:ext cx="25603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66160" y="3383280"/>
            <a:ext cx="54864" cy="132588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30752" y="3529584"/>
            <a:ext cx="22677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Context Control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30752" y="3858768"/>
            <a:ext cx="2267712" cy="758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0">
                <a:solidFill>
                  <a:srgbClr val="525252"/>
                </a:solidFill>
                <a:latin typeface="Arial"/>
              </a:rPr>
              <a:t>Top-k retrieved documents limit unnecessary token growth.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6520" y="3383280"/>
            <a:ext cx="25603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46520" y="3383280"/>
            <a:ext cx="54864" cy="1325880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3529584"/>
            <a:ext cx="22677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Optimization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11112" y="3858768"/>
            <a:ext cx="2267712" cy="758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0">
                <a:solidFill>
                  <a:srgbClr val="525252"/>
                </a:solidFill>
                <a:latin typeface="Arial"/>
              </a:rPr>
              <a:t>Reusable prompt template, structured answer format, fewer repeated instructions.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26880" y="3383280"/>
            <a:ext cx="25603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26880" y="3383280"/>
            <a:ext cx="54864" cy="1325880"/>
          </a:xfrm>
          <a:prstGeom prst="rect">
            <a:avLst/>
          </a:prstGeom>
          <a:solidFill>
            <a:srgbClr val="F1C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91472" y="3529584"/>
            <a:ext cx="22677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Outcome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1472" y="3858768"/>
            <a:ext cx="2267712" cy="758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0">
                <a:solidFill>
                  <a:srgbClr val="525252"/>
                </a:solidFill>
                <a:latin typeface="Arial"/>
              </a:rPr>
              <a:t>Focused, consistent and grounded responses with lower model usage.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166360"/>
            <a:ext cx="11064240" cy="685800"/>
          </a:xfrm>
          <a:prstGeom prst="roundRect">
            <a:avLst/>
          </a:prstGeom>
          <a:solidFill>
            <a:srgbClr val="EBF3FF"/>
          </a:solidFill>
          <a:ln>
            <a:solidFill>
              <a:srgbClr val="A6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321808"/>
            <a:ext cx="107442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0">
                <a:solidFill>
                  <a:srgbClr val="05347A"/>
                </a:solidFill>
                <a:latin typeface="Arial"/>
              </a:rPr>
              <a:t>Note: Exact token usage should be verified from watsonx.ai or deployment analytics during live execution. The prototype is optimized using compact prompts and limited retrieved context.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1161288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NOVELTY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Novelty and Uniqueness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What makes the Eco Lifestyle Agent more than a static information portal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375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00200"/>
            <a:ext cx="54864" cy="111556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6112" y="176479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0136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0F62FE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737360"/>
            <a:ext cx="254203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Agentic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112264"/>
            <a:ext cx="2953512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Plans, retrieves, reasons and responds through a goal-oriented workflow.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600200"/>
            <a:ext cx="33375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600200"/>
            <a:ext cx="54864" cy="1115568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1" y="176479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1" y="180136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24A148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93207" y="1737360"/>
            <a:ext cx="254203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RAG-Based 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7" y="2112264"/>
            <a:ext cx="2953512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Combines search over trusted documents with IBM Granite generation.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600200"/>
            <a:ext cx="33375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600200"/>
            <a:ext cx="54864" cy="1115568"/>
          </a:xfrm>
          <a:prstGeom prst="rect">
            <a:avLst/>
          </a:prstGeom>
          <a:solidFill>
            <a:srgbClr val="007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02752" y="176479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2752" y="180136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007D79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6528" y="1737360"/>
            <a:ext cx="2542031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Context Awareness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2112264"/>
            <a:ext cx="2953512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Adapts responses based on user goal, lifestyle and location context.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154680"/>
            <a:ext cx="33375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3154680"/>
            <a:ext cx="54864" cy="1115568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96112" y="331927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35584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8A3FFC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3291840"/>
            <a:ext cx="254203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Government Scheme Integration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3666744"/>
            <a:ext cx="2953512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Surfaces relevant environmental policies and public schemes.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34840" y="3154680"/>
            <a:ext cx="33375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34840" y="3154680"/>
            <a:ext cx="54864" cy="1115568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99431" y="331927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99431" y="335584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24A148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93207" y="3291840"/>
            <a:ext cx="254203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Sustainable Decision Support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36007" y="3666744"/>
            <a:ext cx="2953512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Converts complex information into small daily actions.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3154680"/>
            <a:ext cx="33375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38160" y="3154680"/>
            <a:ext cx="54864" cy="111556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302752" y="3319272"/>
            <a:ext cx="384048" cy="384048"/>
          </a:xfrm>
          <a:prstGeom prst="ellipse">
            <a:avLst/>
          </a:prstGeom>
          <a:solidFill>
            <a:srgbClr val="EDF2FF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02752" y="3355848"/>
            <a:ext cx="38404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0F62FE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96528" y="3291840"/>
            <a:ext cx="2542031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Enterprise Readiness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39328" y="3666744"/>
            <a:ext cx="2953512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Uses IBM Cloud Lite, watsonx.ai and modular architecture for scalability.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5257800"/>
            <a:ext cx="1024128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161616"/>
                </a:solidFill>
                <a:latin typeface="Arial"/>
              </a:rPr>
              <a:t>The solution is unique because it combines environmental knowledge retrieval, IBM Granite reasoning, and agentic personalization into a single sustainable-living assistant.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1161288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Evaluation Metrics &amp; Expected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Metrics used to validate technical quality and user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337560" cy="1115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673351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Response Relevance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1984248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F62FE"/>
                </a:solidFill>
                <a:latin typeface="Arial"/>
              </a:rPr>
              <a:t>Target: 90–95%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295144"/>
            <a:ext cx="29260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80" b="0">
                <a:solidFill>
                  <a:srgbClr val="393939"/>
                </a:solidFill>
                <a:latin typeface="Arial"/>
              </a:rPr>
              <a:t>Answers align with the retrieved environmental context.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08760"/>
            <a:ext cx="3337560" cy="1115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673351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Grounded Responses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1984248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24A148"/>
                </a:solidFill>
                <a:latin typeface="Arial"/>
              </a:rPr>
              <a:t>Enabled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295144"/>
            <a:ext cx="29260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80" b="0">
                <a:solidFill>
                  <a:srgbClr val="393939"/>
                </a:solidFill>
                <a:latin typeface="Arial"/>
              </a:rPr>
              <a:t>Generated output uses RAG-retrieved documents.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508760"/>
            <a:ext cx="3337560" cy="1115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1673351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Hallucination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1984248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07D79"/>
                </a:solidFill>
                <a:latin typeface="Arial"/>
              </a:rPr>
              <a:t>Reduced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2295144"/>
            <a:ext cx="29260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80" b="0">
                <a:solidFill>
                  <a:srgbClr val="393939"/>
                </a:solidFill>
                <a:latin typeface="Arial"/>
              </a:rPr>
              <a:t>Responses are constrained by trusted knowledge sources.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81528"/>
            <a:ext cx="3337560" cy="1115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246120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Retrieval Latency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3557016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8A3FFC"/>
                </a:solidFill>
                <a:latin typeface="Arial"/>
              </a:rPr>
              <a:t>Target: &lt;2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3867912"/>
            <a:ext cx="29260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80" b="0">
                <a:solidFill>
                  <a:srgbClr val="393939"/>
                </a:solidFill>
                <a:latin typeface="Arial"/>
              </a:rPr>
              <a:t>Fast semantic search over FAISS/Chroma vectors.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3081528"/>
            <a:ext cx="3337560" cy="1115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0288" y="3246120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Scalability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557016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F62FE"/>
                </a:solidFill>
                <a:latin typeface="Arial"/>
              </a:rPr>
              <a:t>High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8" y="3867912"/>
            <a:ext cx="29260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80" b="0">
                <a:solidFill>
                  <a:srgbClr val="393939"/>
                </a:solidFill>
                <a:latin typeface="Arial"/>
              </a:rPr>
              <a:t>Cloud-native architecture using IBM Cloud Lite services.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3081528"/>
            <a:ext cx="3337560" cy="1115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93608" y="3246120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User Experience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3608" y="3557016"/>
            <a:ext cx="29260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24A148"/>
                </a:solidFill>
                <a:latin typeface="Arial"/>
              </a:rPr>
              <a:t>Conversational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3608" y="3867912"/>
            <a:ext cx="29260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80" b="0">
                <a:solidFill>
                  <a:srgbClr val="393939"/>
                </a:solidFill>
                <a:latin typeface="Arial"/>
              </a:rPr>
              <a:t>Simple natural language interface for non-technical users.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257800"/>
            <a:ext cx="10241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161616"/>
                </a:solidFill>
                <a:latin typeface="Arial"/>
              </a:rPr>
              <a:t>Expected Outcome: A trustworthy, scalable and easy-to-use AI assistant that helps users make informed eco-conscious decisions.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56032"/>
            <a:ext cx="1143000" cy="310896"/>
          </a:xfrm>
          <a:prstGeom prst="roundRect">
            <a:avLst/>
          </a:prstGeom>
          <a:solidFill>
            <a:srgbClr val="EBF3FF"/>
          </a:solidFill>
          <a:ln>
            <a:solidFill>
              <a:srgbClr val="A6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05156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000" b="1">
                <a:solidFill>
                  <a:srgbClr val="161616"/>
                </a:solidFill>
                <a:latin typeface="Arial"/>
              </a:rPr>
              <a:t>Demo &amp; Sample Conversations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234440"/>
            <a:ext cx="102412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0">
                <a:solidFill>
                  <a:srgbClr val="525252"/>
                </a:solidFill>
                <a:latin typeface="Arial"/>
              </a:rPr>
              <a:t>Representative interactions showing grounded sustainability guidance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1088136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6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200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650" b="0">
                <a:solidFill>
                  <a:srgbClr val="8D8D8D"/>
                </a:solidFill>
                <a:latin typeface="Arial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828800"/>
            <a:ext cx="53035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828800"/>
            <a:ext cx="54864" cy="96012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975104"/>
            <a:ext cx="50109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User: How can I reduce plastic waste at home?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304288"/>
            <a:ext cx="5010912" cy="3931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0">
                <a:solidFill>
                  <a:srgbClr val="525252"/>
                </a:solidFill>
                <a:latin typeface="Arial"/>
              </a:rPr>
              <a:t>Agent: Use cloth bags, avoid single-use cutlery, switch to refill products, carry a steel bottle and segregate plastic waste correctly.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063240"/>
            <a:ext cx="53035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3063240"/>
            <a:ext cx="54864" cy="9601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209544"/>
            <a:ext cx="50109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User: Suggest eco-friendly transportation options.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3538728"/>
            <a:ext cx="5010912" cy="3931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0">
                <a:solidFill>
                  <a:srgbClr val="525252"/>
                </a:solidFill>
                <a:latin typeface="Arial"/>
              </a:rPr>
              <a:t>Agent: Prefer public transport, cycling, walking, carpooling or electric vehicles. For short distances, walking and cycling have the lowest footprint.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297680"/>
            <a:ext cx="53035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" y="4297680"/>
            <a:ext cx="54864" cy="96012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443984"/>
            <a:ext cx="50109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User: How can I reduce electricity consumption?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" y="4773168"/>
            <a:ext cx="5010912" cy="3931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0">
                <a:solidFill>
                  <a:srgbClr val="525252"/>
                </a:solidFill>
                <a:latin typeface="Arial"/>
              </a:rPr>
              <a:t>Agent: Use LED bulbs, unplug idle devices, choose star-rated appliances, optimize AC temperature and consider rooftop solar.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1874519"/>
            <a:ext cx="44805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161616"/>
                </a:solidFill>
                <a:latin typeface="Arial"/>
              </a:rPr>
              <a:t>Prototype Interaction Flow</a:t>
            </a:r>
          </a:p>
        </p:txBody>
      </p:sp>
      <p:sp>
        <p:nvSpPr>
          <p:cNvPr id="21" name="Oval 20"/>
          <p:cNvSpPr/>
          <p:nvPr/>
        </p:nvSpPr>
        <p:spPr>
          <a:xfrm>
            <a:off x="6720840" y="2423160"/>
            <a:ext cx="438912" cy="438912"/>
          </a:xfrm>
          <a:prstGeom prst="ellipse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404872"/>
            <a:ext cx="333756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60920" y="2404872"/>
            <a:ext cx="54864" cy="50292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2551176"/>
            <a:ext cx="304495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161616"/>
                </a:solidFill>
                <a:latin typeface="Arial"/>
              </a:rPr>
              <a:t>User Query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2880360"/>
            <a:ext cx="3044952" cy="-6400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/>
        </p:txBody>
      </p:sp>
      <p:sp>
        <p:nvSpPr>
          <p:cNvPr id="26" name="Oval 25"/>
          <p:cNvSpPr/>
          <p:nvPr/>
        </p:nvSpPr>
        <p:spPr>
          <a:xfrm>
            <a:off x="6720840" y="3136391"/>
            <a:ext cx="438912" cy="438912"/>
          </a:xfrm>
          <a:prstGeom prst="ellipse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60920" y="3118103"/>
            <a:ext cx="333756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60920" y="3118103"/>
            <a:ext cx="54864" cy="5029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25512" y="3264408"/>
            <a:ext cx="304495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161616"/>
                </a:solidFill>
                <a:latin typeface="Arial"/>
              </a:rPr>
              <a:t>RAG Retrieval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593591"/>
            <a:ext cx="3044952" cy="-6400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/>
        </p:txBody>
      </p:sp>
      <p:sp>
        <p:nvSpPr>
          <p:cNvPr id="31" name="Oval 30"/>
          <p:cNvSpPr/>
          <p:nvPr/>
        </p:nvSpPr>
        <p:spPr>
          <a:xfrm>
            <a:off x="6720840" y="3849624"/>
            <a:ext cx="438912" cy="438912"/>
          </a:xfrm>
          <a:prstGeom prst="ellipse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60920" y="3831336"/>
            <a:ext cx="333756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60920" y="3831336"/>
            <a:ext cx="54864" cy="50292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25512" y="3977640"/>
            <a:ext cx="304495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161616"/>
                </a:solidFill>
                <a:latin typeface="Arial"/>
              </a:rPr>
              <a:t>Context Selection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25512" y="4306824"/>
            <a:ext cx="3044952" cy="-6400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/>
        </p:txBody>
      </p:sp>
      <p:sp>
        <p:nvSpPr>
          <p:cNvPr id="36" name="Oval 35"/>
          <p:cNvSpPr/>
          <p:nvPr/>
        </p:nvSpPr>
        <p:spPr>
          <a:xfrm>
            <a:off x="6720840" y="4562856"/>
            <a:ext cx="438912" cy="438912"/>
          </a:xfrm>
          <a:prstGeom prst="ellipse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60920" y="4544568"/>
            <a:ext cx="333756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60920" y="4544568"/>
            <a:ext cx="54864" cy="5029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4690872"/>
            <a:ext cx="304495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161616"/>
                </a:solidFill>
                <a:latin typeface="Arial"/>
              </a:rPr>
              <a:t>IBM Granite Response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5020056"/>
            <a:ext cx="3044952" cy="-6400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629400" y="5532120"/>
            <a:ext cx="45720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0">
                <a:solidFill>
                  <a:srgbClr val="525252"/>
                </a:solidFill>
                <a:latin typeface="Arial"/>
              </a:rPr>
              <a:t>The demo validates the core workflow: intent capture → trusted retrieval → grounded recommendation.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56032"/>
            <a:ext cx="1143000" cy="310896"/>
          </a:xfrm>
          <a:prstGeom prst="roundRect">
            <a:avLst/>
          </a:prstGeom>
          <a:solidFill>
            <a:srgbClr val="EBF3FF"/>
          </a:solidFill>
          <a:ln>
            <a:solidFill>
              <a:srgbClr val="A6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GITHUB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05156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000" b="1">
                <a:solidFill>
                  <a:srgbClr val="161616"/>
                </a:solidFill>
                <a:latin typeface="Arial"/>
              </a:rPr>
              <a:t>GitHub Repository &amp; Code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234440"/>
            <a:ext cx="102412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0">
                <a:solidFill>
                  <a:srgbClr val="525252"/>
                </a:solidFill>
                <a:latin typeface="Arial"/>
              </a:rPr>
              <a:t>Public repository section as required by the submission template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1088136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6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200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650" b="0">
                <a:solidFill>
                  <a:srgbClr val="8D8D8D"/>
                </a:solidFill>
                <a:latin typeface="Arial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58521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54864" cy="91440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975104"/>
            <a:ext cx="555955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1">
                <a:solidFill>
                  <a:srgbClr val="161616"/>
                </a:solidFill>
                <a:latin typeface="Arial"/>
              </a:rPr>
              <a:t>Repository URL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304288"/>
            <a:ext cx="5559552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0">
                <a:solidFill>
                  <a:srgbClr val="525252"/>
                </a:solidFill>
                <a:latin typeface="Arial"/>
              </a:rPr>
              <a:t>https://github.com/rishabh230707-afk/eco-lifestyle-agent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063240"/>
            <a:ext cx="58521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063240"/>
            <a:ext cx="54864" cy="214884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209544"/>
            <a:ext cx="555955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Repository Contents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3538728"/>
            <a:ext cx="5559552" cy="1581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/>
            <a:r>
              <a:rPr sz="1050" b="0">
                <a:solidFill>
                  <a:srgbClr val="525252"/>
                </a:solidFill>
                <a:latin typeface="Arial"/>
              </a:rPr>
              <a:t>• README.md with overview and setup steps</a:t>
            </a:r>
            <a:br/>
            <a:r>
              <a:rPr sz="1050" b="0">
                <a:solidFill>
                  <a:srgbClr val="525252"/>
                </a:solidFill>
                <a:latin typeface="Arial"/>
              </a:rPr>
              <a:t>• app.json project metadata</a:t>
            </a:r>
            <a:br/>
            <a:r>
              <a:rPr sz="1050" b="0">
                <a:solidFill>
                  <a:srgbClr val="525252"/>
                </a:solidFill>
                <a:latin typeface="Arial"/>
              </a:rPr>
              <a:t>• app.py Flask backend</a:t>
            </a:r>
            <a:br/>
            <a:r>
              <a:rPr sz="1050" b="0">
                <a:solidFill>
                  <a:srgbClr val="525252"/>
                </a:solidFill>
                <a:latin typeface="Arial"/>
              </a:rPr>
              <a:t>• requirements.txt and .env.example</a:t>
            </a:r>
            <a:br/>
            <a:r>
              <a:rPr sz="1050" b="0">
                <a:solidFill>
                  <a:srgbClr val="525252"/>
                </a:solidFill>
                <a:latin typeface="Arial"/>
              </a:rPr>
              <a:t>• src/ RAG engine code</a:t>
            </a:r>
            <a:br/>
            <a:r>
              <a:rPr sz="1050" b="0">
                <a:solidFill>
                  <a:srgbClr val="525252"/>
                </a:solidFill>
                <a:latin typeface="Arial"/>
              </a:rPr>
              <a:t>• data/ environmental knowledge files</a:t>
            </a:r>
            <a:br/>
            <a:r>
              <a:rPr sz="1050" b="0">
                <a:solidFill>
                  <a:srgbClr val="525252"/>
                </a:solidFill>
                <a:latin typeface="Arial"/>
              </a:rPr>
              <a:t>• templates/ and static/ web interface files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1828800"/>
            <a:ext cx="4023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1828800"/>
            <a:ext cx="54864" cy="100584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71231" y="1975104"/>
            <a:ext cx="373075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1">
                <a:solidFill>
                  <a:srgbClr val="161616"/>
                </a:solidFill>
                <a:latin typeface="Arial"/>
              </a:rPr>
              <a:t>Repository Status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1231" y="2304288"/>
            <a:ext cx="3730752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0">
                <a:solidFill>
                  <a:srgbClr val="525252"/>
                </a:solidFill>
                <a:latin typeface="Arial"/>
              </a:rPr>
              <a:t>Public GitHub repository created and linked for submission.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3063240"/>
            <a:ext cx="2331720" cy="23317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543800" y="5623560"/>
            <a:ext cx="36576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0">
                <a:solidFill>
                  <a:srgbClr val="525252"/>
                </a:solidFill>
                <a:latin typeface="Arial"/>
              </a:rPr>
              <a:t>Scan the QR code or click the URL to open the public project repository.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56032"/>
            <a:ext cx="1417320" cy="310896"/>
          </a:xfrm>
          <a:prstGeom prst="roundRect">
            <a:avLst/>
          </a:prstGeom>
          <a:solidFill>
            <a:srgbClr val="EBF3FF"/>
          </a:solidFill>
          <a:ln>
            <a:solidFill>
              <a:srgbClr val="A6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05156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000" b="1">
                <a:solidFill>
                  <a:srgbClr val="161616"/>
                </a:solidFill>
                <a:latin typeface="Arial"/>
              </a:rPr>
              <a:t>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234440"/>
            <a:ext cx="10515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0">
                <a:solidFill>
                  <a:srgbClr val="525252"/>
                </a:solidFill>
                <a:latin typeface="Arial"/>
              </a:rPr>
              <a:t>Planned enhancements to make the agent more accessible, intelligent and practical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1088136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6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200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650" b="0">
                <a:solidFill>
                  <a:srgbClr val="8D8D8D"/>
                </a:solidFill>
                <a:latin typeface="Arial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24231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54864" cy="114300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1" y="2039112"/>
            <a:ext cx="384048" cy="384048"/>
          </a:xfrm>
          <a:prstGeom prst="ellipse">
            <a:avLst/>
          </a:prstGeom>
          <a:solidFill>
            <a:srgbClr val="EBF3FF"/>
          </a:solidFill>
          <a:ln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F62FE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2039112"/>
            <a:ext cx="1600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Voice 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441448"/>
            <a:ext cx="2039112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 b="0">
                <a:solidFill>
                  <a:srgbClr val="525252"/>
                </a:solidFill>
                <a:latin typeface="Arial"/>
              </a:rPr>
              <a:t>Hands-free natural language access for daily use.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1874519"/>
            <a:ext cx="24231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66160" y="1874519"/>
            <a:ext cx="54864" cy="114300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30752" y="2039112"/>
            <a:ext cx="384048" cy="384048"/>
          </a:xfrm>
          <a:prstGeom prst="ellipse">
            <a:avLst/>
          </a:prstGeom>
          <a:solidFill>
            <a:srgbClr val="EBF3FF"/>
          </a:solidFill>
          <a:ln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4A148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039112"/>
            <a:ext cx="1600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Regional + Location-Aware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67328" y="2441448"/>
            <a:ext cx="2039112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 b="0">
                <a:solidFill>
                  <a:srgbClr val="525252"/>
                </a:solidFill>
                <a:latin typeface="Arial"/>
              </a:rPr>
              <a:t>Hindi/Indian language support with city-specific recycling and scheme data.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1874519"/>
            <a:ext cx="24231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92240" y="1874519"/>
            <a:ext cx="54864" cy="1143000"/>
          </a:xfrm>
          <a:prstGeom prst="rect">
            <a:avLst/>
          </a:prstGeom>
          <a:solidFill>
            <a:srgbClr val="007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56831" y="2039112"/>
            <a:ext cx="384048" cy="384048"/>
          </a:xfrm>
          <a:prstGeom prst="ellipse">
            <a:avLst/>
          </a:prstGeom>
          <a:solidFill>
            <a:srgbClr val="EBF3FF"/>
          </a:solidFill>
          <a:ln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07D79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5472" y="2039112"/>
            <a:ext cx="1600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Carbon Calculator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3407" y="2441448"/>
            <a:ext cx="2039112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 b="0">
                <a:solidFill>
                  <a:srgbClr val="525252"/>
                </a:solidFill>
                <a:latin typeface="Arial"/>
              </a:rPr>
              <a:t>Estimate and track personal carbon footprint from habits and choices.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18320" y="1874519"/>
            <a:ext cx="24231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418320" y="1874519"/>
            <a:ext cx="54864" cy="1143000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582912" y="2039112"/>
            <a:ext cx="384048" cy="384048"/>
          </a:xfrm>
          <a:prstGeom prst="ellipse">
            <a:avLst/>
          </a:prstGeom>
          <a:solidFill>
            <a:srgbClr val="EBF3FF"/>
          </a:solidFill>
          <a:ln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8A3FFC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31552" y="2039112"/>
            <a:ext cx="1600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Image Recognition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2441448"/>
            <a:ext cx="2039112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 b="0">
                <a:solidFill>
                  <a:srgbClr val="525252"/>
                </a:solidFill>
                <a:latin typeface="Arial"/>
              </a:rPr>
              <a:t>Classify waste items using camera input for correct segregation.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3429000"/>
            <a:ext cx="24231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3429000"/>
            <a:ext cx="54864" cy="114300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4671" y="3593592"/>
            <a:ext cx="384048" cy="384048"/>
          </a:xfrm>
          <a:prstGeom prst="ellipse">
            <a:avLst/>
          </a:prstGeom>
          <a:solidFill>
            <a:srgbClr val="EBF3FF"/>
          </a:solidFill>
          <a:ln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F62FE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53312" y="3593592"/>
            <a:ext cx="1600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IoT 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7" y="3995928"/>
            <a:ext cx="2039112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 b="0">
                <a:solidFill>
                  <a:srgbClr val="525252"/>
                </a:solidFill>
                <a:latin typeface="Arial"/>
              </a:rPr>
              <a:t>Use smart meter and home sensor data for better recommendations.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66160" y="3429000"/>
            <a:ext cx="24231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66160" y="3429000"/>
            <a:ext cx="54864" cy="114300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730752" y="3593592"/>
            <a:ext cx="384048" cy="384048"/>
          </a:xfrm>
          <a:prstGeom prst="ellipse">
            <a:avLst/>
          </a:prstGeom>
          <a:solidFill>
            <a:srgbClr val="EBF3FF"/>
          </a:solidFill>
          <a:ln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4A148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79392" y="3593592"/>
            <a:ext cx="1600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Mobile App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67328" y="3995928"/>
            <a:ext cx="2039112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 b="0">
                <a:solidFill>
                  <a:srgbClr val="525252"/>
                </a:solidFill>
                <a:latin typeface="Arial"/>
              </a:rPr>
              <a:t>Always-available sustainable living assistant on mobile devices.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92240" y="3429000"/>
            <a:ext cx="24231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92240" y="3429000"/>
            <a:ext cx="54864" cy="1143000"/>
          </a:xfrm>
          <a:prstGeom prst="rect">
            <a:avLst/>
          </a:prstGeom>
          <a:solidFill>
            <a:srgbClr val="007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656831" y="3593592"/>
            <a:ext cx="384048" cy="384048"/>
          </a:xfrm>
          <a:prstGeom prst="ellipse">
            <a:avLst/>
          </a:prstGeom>
          <a:solidFill>
            <a:srgbClr val="EBF3FF"/>
          </a:solidFill>
          <a:ln>
            <a:solidFill>
              <a:srgbClr val="007D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07D79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05472" y="3593592"/>
            <a:ext cx="1600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Gamification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93407" y="3995928"/>
            <a:ext cx="2039112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 b="0">
                <a:solidFill>
                  <a:srgbClr val="525252"/>
                </a:solidFill>
                <a:latin typeface="Arial"/>
              </a:rPr>
              <a:t>Reward users for completing eco-friendly actions and challenges.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418320" y="3429000"/>
            <a:ext cx="24231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418320" y="3429000"/>
            <a:ext cx="54864" cy="1143000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582912" y="3593592"/>
            <a:ext cx="384048" cy="384048"/>
          </a:xfrm>
          <a:prstGeom prst="ellipse">
            <a:avLst/>
          </a:prstGeom>
          <a:solidFill>
            <a:srgbClr val="EBF3FF"/>
          </a:solidFill>
          <a:ln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8A3FFC"/>
                </a:solidFill>
                <a:latin typeface="Arial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31552" y="3593592"/>
            <a:ext cx="1600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61616"/>
                </a:solidFill>
                <a:latin typeface="Arial"/>
              </a:rPr>
              <a:t>Smart Home Integration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19488" y="3995928"/>
            <a:ext cx="2039112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 b="0">
                <a:solidFill>
                  <a:srgbClr val="525252"/>
                </a:solidFill>
                <a:latin typeface="Arial"/>
              </a:rPr>
              <a:t>Energy-saving suggestions from appliance usage patterns.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5102352"/>
            <a:ext cx="10058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700" b="1">
                <a:solidFill>
                  <a:srgbClr val="161616"/>
                </a:solidFill>
                <a:latin typeface="Arial"/>
              </a:rPr>
              <a:t>Roadmap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828800" y="5440680"/>
            <a:ext cx="146304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70" b="1">
                <a:solidFill>
                  <a:srgbClr val="161616"/>
                </a:solidFill>
                <a:latin typeface="Arial"/>
              </a:rPr>
              <a:t>Current RAG Agent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703320" y="5440680"/>
            <a:ext cx="146304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70" b="1">
                <a:solidFill>
                  <a:srgbClr val="161616"/>
                </a:solidFill>
                <a:latin typeface="Arial"/>
              </a:rPr>
              <a:t>Voice + Regional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577840" y="5440680"/>
            <a:ext cx="146304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70" b="1">
                <a:solidFill>
                  <a:srgbClr val="161616"/>
                </a:solidFill>
                <a:latin typeface="Arial"/>
              </a:rPr>
              <a:t>Carbon + Image AI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452359" y="5440680"/>
            <a:ext cx="146304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70" b="1">
                <a:solidFill>
                  <a:srgbClr val="161616"/>
                </a:solidFill>
                <a:latin typeface="Arial"/>
              </a:rPr>
              <a:t>IoT + Mobile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326880" y="5440680"/>
            <a:ext cx="146304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70" b="1">
                <a:solidFill>
                  <a:srgbClr val="161616"/>
                </a:solidFill>
                <a:latin typeface="Arial"/>
              </a:rPr>
              <a:t>Gamified Impact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3069"/>
          </a:solidFill>
          <a:ln>
            <a:solidFill>
              <a:srgbClr val="003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91440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Arial"/>
              </a:defRPr>
            </a:pPr>
            <a:r>
              <a:rPr>
                <a:latin typeface="Arial"/>
              </a:rPr>
              <a:t>Certificates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09728"/>
            <a:ext cx="20116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800" b="1">
                <a:solidFill>
                  <a:srgbClr val="FFFFFF"/>
                </a:solidFill>
                <a:latin typeface="Arial"/>
              </a:defRPr>
            </a:pPr>
            <a:r>
              <a:rPr>
                <a:latin typeface="Arial"/>
              </a:rPr>
              <a:t>IBM SkillsBuild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5303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400" b="1">
                <a:solidFill>
                  <a:srgbClr val="003069"/>
                </a:solidFill>
                <a:latin typeface="Arial"/>
              </a:defRPr>
            </a:pPr>
            <a:r>
              <a:rPr>
                <a:latin typeface="Arial"/>
              </a:rPr>
              <a:t>Credly Certificate – Getting Started with Artificial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777240"/>
            <a:ext cx="5303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400" b="1">
                <a:solidFill>
                  <a:srgbClr val="003069"/>
                </a:solidFill>
                <a:latin typeface="Arial"/>
              </a:defRPr>
            </a:pPr>
            <a:r>
              <a:rPr>
                <a:latin typeface="Arial"/>
              </a:rPr>
              <a:t>IBM Bob Certificate – Troubleshoot Your Code Using IBM Bob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897880"/>
            <a:ext cx="11155680" cy="438912"/>
          </a:xfrm>
          <a:prstGeom prst="rect">
            <a:avLst/>
          </a:prstGeom>
          <a:solidFill>
            <a:srgbClr val="F0F7FF"/>
          </a:solidFill>
          <a:ln>
            <a:solidFill>
              <a:srgbClr val="C8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003069"/>
                </a:solidFill>
                <a:latin typeface="Arial"/>
              </a:defRPr>
            </a:pPr>
            <a:r>
              <a:rPr>
                <a:latin typeface="Arial"/>
              </a:rPr>
              <a:t>Certificates validate IBM SkillsBuild learning completion and IBM Bob hands-on lab participation.</a:t>
            </a:r>
          </a:p>
        </p:txBody>
      </p:sp>
      <p:pic>
        <p:nvPicPr>
          <p:cNvPr id="11" name="Picture 10" descr="credly_cert-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357052"/>
            <a:ext cx="5303520" cy="4098174"/>
          </a:xfrm>
          <a:prstGeom prst="rect">
            <a:avLst/>
          </a:prstGeom>
        </p:spPr>
      </p:pic>
      <p:pic>
        <p:nvPicPr>
          <p:cNvPr id="12" name="Picture 11" descr="bob_lab_cert-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532108"/>
            <a:ext cx="5303520" cy="374806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1463040" cy="256032"/>
          </a:xfrm>
          <a:prstGeom prst="roundRect">
            <a:avLst/>
          </a:prstGeom>
          <a:solidFill>
            <a:srgbClr val="EDF2FF"/>
          </a:solidFill>
          <a:ln w="10160">
            <a:solidFill>
              <a:srgbClr val="A8B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F62FE"/>
                </a:solidFill>
                <a:latin typeface="Arial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61616"/>
                </a:solidFill>
                <a:latin typeface="Arial"/>
              </a:rPr>
              <a:t>References &amp; 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5"/>
            <a:ext cx="10607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>
                <a:solidFill>
                  <a:srgbClr val="393939"/>
                </a:solidFill>
                <a:latin typeface="Arial"/>
              </a:rPr>
              <a:t>Documentation and learning resources used for the project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1155680" cy="18288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33756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4864" cy="288036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645919"/>
            <a:ext cx="299923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IBM Documentation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20824"/>
            <a:ext cx="2953512" cy="23134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• IBM Cloud Documentation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IBM watsonx.ai Documentation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IBM Granite Foundation Models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IBM Cloud Object Storage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508760"/>
            <a:ext cx="54864" cy="288036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7" y="1645919"/>
            <a:ext cx="2999232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61616"/>
                </a:solidFill>
                <a:latin typeface="Arial"/>
              </a:rPr>
              <a:t>AI / ML Frameworks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7" y="2020824"/>
            <a:ext cx="2953512" cy="23134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• IBM watsonx Orchestrate Documentation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RAG Architecture Patterns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FAISS / Chroma Vector Database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Retrieval-Augmented Generation references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508760"/>
            <a:ext cx="333756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508760"/>
            <a:ext cx="54864" cy="2880360"/>
          </a:xfrm>
          <a:prstGeom prst="rect">
            <a:avLst/>
          </a:prstGeom>
          <a:solidFill>
            <a:srgbClr val="007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1645919"/>
            <a:ext cx="2999231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rPr>
                <a:latin typeface="Arial"/>
              </a:rPr>
              <a:t>Learning Resources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020824"/>
            <a:ext cx="2953512" cy="23134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93939"/>
                </a:solidFill>
                <a:latin typeface="Arial"/>
              </a:rPr>
              <a:t>• IBM SkillsBuild Learning Platform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Edunet Foundation Internship Resources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AICTE Virtual Internship Program</a:t>
            </a:r>
            <a:br/>
            <a:r>
              <a:rPr sz="1050" b="0">
                <a:solidFill>
                  <a:srgbClr val="393939"/>
                </a:solidFill>
                <a:latin typeface="Arial"/>
              </a:rPr>
              <a:t>• IBM Developer Community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00600"/>
            <a:ext cx="2011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61616"/>
                </a:solidFill>
                <a:latin typeface="Arial"/>
              </a:rPr>
              <a:t>Conclusion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166360"/>
            <a:ext cx="10652760" cy="685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50" b="0">
                <a:solidFill>
                  <a:srgbClr val="393939"/>
                </a:solidFill>
                <a:latin typeface="Arial"/>
              </a:rPr>
              <a:t>The Eco Lifestyle Agent demonstrates how IBM Cloud Lite, IBM watsonx.ai, IBM Granite Foundation Models and RAG can be combined to create a trustworthy AI assistant that promotes sustainable living through personalized, grounded and actionable guidance.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7498079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>
                <a:solidFill>
                  <a:srgbClr val="8D8D8D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75720" y="6483096"/>
            <a:ext cx="3200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>
                <a:solidFill>
                  <a:srgbClr val="8D8D8D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5943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29260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>
                <a:solidFill>
                  <a:srgbClr val="BED2FF"/>
                </a:solidFill>
                <a:latin typeface="Arial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886200"/>
            <a:ext cx="603504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0">
                <a:solidFill>
                  <a:srgbClr val="EBEBEB"/>
                </a:solidFill>
                <a:latin typeface="Arial"/>
              </a:rPr>
              <a:t>Rishabh Bansal</a:t>
            </a:r>
            <a:br/>
            <a:r>
              <a:rPr sz="1700" b="0">
                <a:solidFill>
                  <a:srgbClr val="EBEBEB"/>
                </a:solidFill>
                <a:latin typeface="Arial"/>
              </a:rPr>
              <a:t>Maharaja Agrasen Institute of Technology (MAIT)</a:t>
            </a:r>
            <a:br/>
            <a:r>
              <a:rPr sz="1700" b="0">
                <a:solidFill>
                  <a:srgbClr val="EBEBEB"/>
                </a:solidFill>
                <a:latin typeface="Arial"/>
              </a:rPr>
              <a:t>rishabhb2307@gmail.com | 8595803248</a:t>
            </a:r>
          </a:p>
        </p:txBody>
      </p:sp>
      <p:sp>
        <p:nvSpPr>
          <p:cNvPr id="6" name="Oval 5"/>
          <p:cNvSpPr/>
          <p:nvPr/>
        </p:nvSpPr>
        <p:spPr>
          <a:xfrm>
            <a:off x="7543800" y="1325880"/>
            <a:ext cx="3383280" cy="3383280"/>
          </a:xfrm>
          <a:prstGeom prst="ellipse">
            <a:avLst/>
          </a:prstGeom>
          <a:solidFill>
            <a:srgbClr val="0F62FE"/>
          </a:solidFill>
          <a:ln w="15240">
            <a:solidFill>
              <a:srgbClr val="5A9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8275320" y="2240280"/>
            <a:ext cx="1920240" cy="1143000"/>
          </a:xfrm>
          <a:prstGeom prst="arc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79" y="2331720"/>
            <a:ext cx="210312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Eco</a:t>
            </a:r>
            <a:br/>
            <a:r>
              <a:rPr sz="2000" b="1">
                <a:solidFill>
                  <a:srgbClr val="FFFFFF"/>
                </a:solidFill>
                <a:latin typeface="Arial"/>
              </a:rPr>
              <a:t>Lifestyle</a:t>
            </a:r>
            <a:br/>
            <a:r>
              <a:rPr sz="2000" b="1">
                <a:solidFill>
                  <a:srgbClr val="FFFFFF"/>
                </a:solidFill>
                <a:latin typeface="Arial"/>
              </a:rPr>
              <a:t>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63640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8C8C8"/>
                </a:solidFill>
                <a:latin typeface="Arial"/>
              </a:rPr>
              <a:t>IBM SkillsBuild | Edunet Foundation | AICTE Virtual Internship 2026–27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236208"/>
            <a:ext cx="2743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C8C8C8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